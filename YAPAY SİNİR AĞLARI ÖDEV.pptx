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2" r:id="rId3"/>
    <p:sldId id="257" r:id="rId4"/>
    <p:sldId id="258" r:id="rId5"/>
    <p:sldId id="259" r:id="rId6"/>
    <p:sldId id="263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3C6384-15A7-49B5-B859-106BCBF61426}" type="doc">
      <dgm:prSet loTypeId="urn:microsoft.com/office/officeart/2005/8/layout/list1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2A55059-ED02-470E-8D39-07FE02C4B0D1}">
      <dgm:prSet/>
      <dgm:spPr/>
      <dgm:t>
        <a:bodyPr/>
        <a:lstStyle/>
        <a:p>
          <a:pPr>
            <a:defRPr b="1"/>
          </a:pPr>
          <a:r>
            <a:rPr lang="tr-TR" b="1" dirty="0">
              <a:latin typeface="Times New Roman" panose="02020603050405020304" pitchFamily="18" charset="0"/>
              <a:cs typeface="Times New Roman" panose="02020603050405020304" pitchFamily="18" charset="0"/>
            </a:rPr>
            <a:t>Veri Üretimi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A4F101-5040-49B5-A3D8-B888F7BB52FE}" type="parTrans" cxnId="{01B2E3B9-61A9-4F08-96A2-22D7137147BA}">
      <dgm:prSet/>
      <dgm:spPr/>
      <dgm:t>
        <a:bodyPr/>
        <a:lstStyle/>
        <a:p>
          <a:endParaRPr lang="en-US"/>
        </a:p>
      </dgm:t>
    </dgm:pt>
    <dgm:pt modelId="{8031BA10-C717-4330-AC38-70D553698B88}" type="sibTrans" cxnId="{01B2E3B9-61A9-4F08-96A2-22D7137147BA}">
      <dgm:prSet/>
      <dgm:spPr/>
      <dgm:t>
        <a:bodyPr/>
        <a:lstStyle/>
        <a:p>
          <a:endParaRPr lang="en-US"/>
        </a:p>
      </dgm:t>
    </dgm:pt>
    <dgm:pt modelId="{1C61604D-96B1-4021-8883-9EE6D517B5D4}">
      <dgm:prSet/>
      <dgm:spPr/>
      <dgm:t>
        <a:bodyPr/>
        <a:lstStyle/>
        <a:p>
          <a:r>
            <a:rPr lang="tr-TR" dirty="0"/>
            <a:t>İnsan yüzleri, hayvanlar, doğa fotoğrafları ve kıyafet tasarımları gibi çeşitli veri türlerini üretir.</a:t>
          </a:r>
          <a:endParaRPr lang="en-US" dirty="0"/>
        </a:p>
      </dgm:t>
    </dgm:pt>
    <dgm:pt modelId="{B6E49118-25A3-48B1-818F-933DAC4131C1}" type="parTrans" cxnId="{4FAED716-8292-4CDC-B554-C82694E08CD6}">
      <dgm:prSet/>
      <dgm:spPr/>
      <dgm:t>
        <a:bodyPr/>
        <a:lstStyle/>
        <a:p>
          <a:endParaRPr lang="en-US"/>
        </a:p>
      </dgm:t>
    </dgm:pt>
    <dgm:pt modelId="{4D4D9B83-FF65-44A4-ACC7-236200D25676}" type="sibTrans" cxnId="{4FAED716-8292-4CDC-B554-C82694E08CD6}">
      <dgm:prSet/>
      <dgm:spPr/>
      <dgm:t>
        <a:bodyPr/>
        <a:lstStyle/>
        <a:p>
          <a:endParaRPr lang="en-US"/>
        </a:p>
      </dgm:t>
    </dgm:pt>
    <dgm:pt modelId="{6C18A1A3-1BDD-4FC8-BFBD-2173B94907A9}">
      <dgm:prSet/>
      <dgm:spPr/>
      <dgm:t>
        <a:bodyPr/>
        <a:lstStyle/>
        <a:p>
          <a:r>
            <a:rPr lang="tr-TR" dirty="0"/>
            <a:t>Araç tasarımı, harita oluşturma ve oyun tasarımı gibi alanlarda da aktif olarak kullanılır.</a:t>
          </a:r>
          <a:endParaRPr lang="en-US" dirty="0"/>
        </a:p>
      </dgm:t>
    </dgm:pt>
    <dgm:pt modelId="{892C01DC-EC5F-4989-A29A-7BD268C0858D}" type="parTrans" cxnId="{4D544C96-6811-4C32-BB8A-EA91453C5C08}">
      <dgm:prSet/>
      <dgm:spPr/>
      <dgm:t>
        <a:bodyPr/>
        <a:lstStyle/>
        <a:p>
          <a:endParaRPr lang="en-US"/>
        </a:p>
      </dgm:t>
    </dgm:pt>
    <dgm:pt modelId="{C46E5301-0F3A-46E1-BCD0-2A2EC9698141}" type="sibTrans" cxnId="{4D544C96-6811-4C32-BB8A-EA91453C5C08}">
      <dgm:prSet/>
      <dgm:spPr/>
      <dgm:t>
        <a:bodyPr/>
        <a:lstStyle/>
        <a:p>
          <a:endParaRPr lang="en-US"/>
        </a:p>
      </dgm:t>
    </dgm:pt>
    <dgm:pt modelId="{53F68FF3-BD88-4E49-A0F9-F0572E7B4E13}">
      <dgm:prSet/>
      <dgm:spPr/>
      <dgm:t>
        <a:bodyPr/>
        <a:lstStyle/>
        <a:p>
          <a:pPr>
            <a:defRPr b="1"/>
          </a:pPr>
          <a:r>
            <a:rPr lang="tr-TR" b="1" dirty="0">
              <a:latin typeface="Times New Roman" panose="02020603050405020304" pitchFamily="18" charset="0"/>
              <a:cs typeface="Times New Roman" panose="02020603050405020304" pitchFamily="18" charset="0"/>
            </a:rPr>
            <a:t>Veri Dönüşümü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F6CFF0-F537-4097-9636-1AC941FC5257}" type="parTrans" cxnId="{661E88C1-D399-4FAC-93F7-681217E00BCA}">
      <dgm:prSet/>
      <dgm:spPr/>
      <dgm:t>
        <a:bodyPr/>
        <a:lstStyle/>
        <a:p>
          <a:endParaRPr lang="en-US"/>
        </a:p>
      </dgm:t>
    </dgm:pt>
    <dgm:pt modelId="{31119AE5-3D0C-46EC-8F2E-432B38A2D285}" type="sibTrans" cxnId="{661E88C1-D399-4FAC-93F7-681217E00BCA}">
      <dgm:prSet/>
      <dgm:spPr/>
      <dgm:t>
        <a:bodyPr/>
        <a:lstStyle/>
        <a:p>
          <a:endParaRPr lang="en-US"/>
        </a:p>
      </dgm:t>
    </dgm:pt>
    <dgm:pt modelId="{88DFF8DF-B153-4888-AB52-C63C226CF945}">
      <dgm:prSet/>
      <dgm:spPr/>
      <dgm:t>
        <a:bodyPr/>
        <a:lstStyle/>
        <a:p>
          <a:r>
            <a:rPr lang="tr-TR" dirty="0"/>
            <a:t>Siyah beyaz fotoğrafları renklendirme, çizimleri gerçekçi resimlere dönüştürme ve görüntülerin farklı konseptlere uyarlanması sağlanabilir.</a:t>
          </a:r>
          <a:endParaRPr lang="en-US" dirty="0"/>
        </a:p>
      </dgm:t>
    </dgm:pt>
    <dgm:pt modelId="{1E61B620-D93C-4A80-82E9-27F0FEE014BB}" type="parTrans" cxnId="{616FD1E0-73D8-4628-A8CE-E024009193EF}">
      <dgm:prSet/>
      <dgm:spPr/>
      <dgm:t>
        <a:bodyPr/>
        <a:lstStyle/>
        <a:p>
          <a:endParaRPr lang="en-US"/>
        </a:p>
      </dgm:t>
    </dgm:pt>
    <dgm:pt modelId="{BC882894-C0F2-4158-B738-29B899271809}" type="sibTrans" cxnId="{616FD1E0-73D8-4628-A8CE-E024009193EF}">
      <dgm:prSet/>
      <dgm:spPr/>
      <dgm:t>
        <a:bodyPr/>
        <a:lstStyle/>
        <a:p>
          <a:endParaRPr lang="en-US"/>
        </a:p>
      </dgm:t>
    </dgm:pt>
    <dgm:pt modelId="{BD6D3F32-C4DD-4C24-A999-D7CA070DB004}">
      <dgm:prSet/>
      <dgm:spPr/>
      <dgm:t>
        <a:bodyPr/>
        <a:lstStyle/>
        <a:p>
          <a:r>
            <a:rPr lang="tr-TR"/>
            <a:t>Örneğin gündüz fotoğraflarını geceye dönüştürme veya uydu görüntülerinden harita üretme.</a:t>
          </a:r>
          <a:endParaRPr lang="en-US"/>
        </a:p>
      </dgm:t>
    </dgm:pt>
    <dgm:pt modelId="{6C963B29-08CF-4FD1-A49E-F5826484FEFA}" type="parTrans" cxnId="{136BDB9C-9D22-4684-BAA2-2E931D263DA0}">
      <dgm:prSet/>
      <dgm:spPr/>
      <dgm:t>
        <a:bodyPr/>
        <a:lstStyle/>
        <a:p>
          <a:endParaRPr lang="en-US"/>
        </a:p>
      </dgm:t>
    </dgm:pt>
    <dgm:pt modelId="{44B55B9E-B7D3-46F5-B414-A79D436C93B9}" type="sibTrans" cxnId="{136BDB9C-9D22-4684-BAA2-2E931D263DA0}">
      <dgm:prSet/>
      <dgm:spPr/>
      <dgm:t>
        <a:bodyPr/>
        <a:lstStyle/>
        <a:p>
          <a:endParaRPr lang="en-US"/>
        </a:p>
      </dgm:t>
    </dgm:pt>
    <dgm:pt modelId="{20AC5F70-29E0-481C-9607-51A5C8CDAEF8}" type="pres">
      <dgm:prSet presAssocID="{513C6384-15A7-49B5-B859-106BCBF61426}" presName="linear" presStyleCnt="0">
        <dgm:presLayoutVars>
          <dgm:dir/>
          <dgm:animLvl val="lvl"/>
          <dgm:resizeHandles val="exact"/>
        </dgm:presLayoutVars>
      </dgm:prSet>
      <dgm:spPr/>
    </dgm:pt>
    <dgm:pt modelId="{1A19B140-AD42-47F2-8246-A602CAA72B25}" type="pres">
      <dgm:prSet presAssocID="{B2A55059-ED02-470E-8D39-07FE02C4B0D1}" presName="parentLin" presStyleCnt="0"/>
      <dgm:spPr/>
    </dgm:pt>
    <dgm:pt modelId="{04CAEC50-15FF-42B8-9903-B25A1A20BFAB}" type="pres">
      <dgm:prSet presAssocID="{B2A55059-ED02-470E-8D39-07FE02C4B0D1}" presName="parentLeftMargin" presStyleLbl="node1" presStyleIdx="0" presStyleCnt="2"/>
      <dgm:spPr/>
    </dgm:pt>
    <dgm:pt modelId="{6BDA4DE8-64C2-4778-B78B-076670DE10FA}" type="pres">
      <dgm:prSet presAssocID="{B2A55059-ED02-470E-8D39-07FE02C4B0D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B2A4BE1-B9C3-480A-997F-0E7C99872C01}" type="pres">
      <dgm:prSet presAssocID="{B2A55059-ED02-470E-8D39-07FE02C4B0D1}" presName="negativeSpace" presStyleCnt="0"/>
      <dgm:spPr/>
    </dgm:pt>
    <dgm:pt modelId="{1E32B293-3778-4E09-89E7-322177ABBE25}" type="pres">
      <dgm:prSet presAssocID="{B2A55059-ED02-470E-8D39-07FE02C4B0D1}" presName="childText" presStyleLbl="conFgAcc1" presStyleIdx="0" presStyleCnt="2">
        <dgm:presLayoutVars>
          <dgm:bulletEnabled val="1"/>
        </dgm:presLayoutVars>
      </dgm:prSet>
      <dgm:spPr/>
    </dgm:pt>
    <dgm:pt modelId="{96F90D13-5ACE-400D-91D7-31E574223BDE}" type="pres">
      <dgm:prSet presAssocID="{8031BA10-C717-4330-AC38-70D553698B88}" presName="spaceBetweenRectangles" presStyleCnt="0"/>
      <dgm:spPr/>
    </dgm:pt>
    <dgm:pt modelId="{D674221B-8031-4FDA-9664-1F43EB6423BC}" type="pres">
      <dgm:prSet presAssocID="{53F68FF3-BD88-4E49-A0F9-F0572E7B4E13}" presName="parentLin" presStyleCnt="0"/>
      <dgm:spPr/>
    </dgm:pt>
    <dgm:pt modelId="{E6B94A98-CDA6-4031-8571-3561C81684C6}" type="pres">
      <dgm:prSet presAssocID="{53F68FF3-BD88-4E49-A0F9-F0572E7B4E13}" presName="parentLeftMargin" presStyleLbl="node1" presStyleIdx="0" presStyleCnt="2"/>
      <dgm:spPr/>
    </dgm:pt>
    <dgm:pt modelId="{E95156D4-5A8E-4DC8-91E9-0E372455840E}" type="pres">
      <dgm:prSet presAssocID="{53F68FF3-BD88-4E49-A0F9-F0572E7B4E1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877C4DA-B81B-41A7-8DEA-0AF853BBE255}" type="pres">
      <dgm:prSet presAssocID="{53F68FF3-BD88-4E49-A0F9-F0572E7B4E13}" presName="negativeSpace" presStyleCnt="0"/>
      <dgm:spPr/>
    </dgm:pt>
    <dgm:pt modelId="{792E3B89-5859-41A7-9F34-BB2773FE1026}" type="pres">
      <dgm:prSet presAssocID="{53F68FF3-BD88-4E49-A0F9-F0572E7B4E1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FAED716-8292-4CDC-B554-C82694E08CD6}" srcId="{B2A55059-ED02-470E-8D39-07FE02C4B0D1}" destId="{1C61604D-96B1-4021-8883-9EE6D517B5D4}" srcOrd="0" destOrd="0" parTransId="{B6E49118-25A3-48B1-818F-933DAC4131C1}" sibTransId="{4D4D9B83-FF65-44A4-ACC7-236200D25676}"/>
    <dgm:cxn modelId="{3E1FEA27-6C1B-4B20-B82E-8D3A8FFE2462}" type="presOf" srcId="{6C18A1A3-1BDD-4FC8-BFBD-2173B94907A9}" destId="{1E32B293-3778-4E09-89E7-322177ABBE25}" srcOrd="0" destOrd="1" presId="urn:microsoft.com/office/officeart/2005/8/layout/list1"/>
    <dgm:cxn modelId="{16F9432B-B581-4DAB-9F76-EDEC5EBEE55D}" type="presOf" srcId="{BD6D3F32-C4DD-4C24-A999-D7CA070DB004}" destId="{792E3B89-5859-41A7-9F34-BB2773FE1026}" srcOrd="0" destOrd="1" presId="urn:microsoft.com/office/officeart/2005/8/layout/list1"/>
    <dgm:cxn modelId="{C4CD462F-FF5D-4240-9CE7-B7A2C0F69C1A}" type="presOf" srcId="{88DFF8DF-B153-4888-AB52-C63C226CF945}" destId="{792E3B89-5859-41A7-9F34-BB2773FE1026}" srcOrd="0" destOrd="0" presId="urn:microsoft.com/office/officeart/2005/8/layout/list1"/>
    <dgm:cxn modelId="{AA88DE53-1952-4327-97D4-B3C645FAA323}" type="presOf" srcId="{B2A55059-ED02-470E-8D39-07FE02C4B0D1}" destId="{04CAEC50-15FF-42B8-9903-B25A1A20BFAB}" srcOrd="0" destOrd="0" presId="urn:microsoft.com/office/officeart/2005/8/layout/list1"/>
    <dgm:cxn modelId="{4C06C775-F6CC-4AD2-BBE4-D1C54C0A6D95}" type="presOf" srcId="{1C61604D-96B1-4021-8883-9EE6D517B5D4}" destId="{1E32B293-3778-4E09-89E7-322177ABBE25}" srcOrd="0" destOrd="0" presId="urn:microsoft.com/office/officeart/2005/8/layout/list1"/>
    <dgm:cxn modelId="{1CB3937F-3AC2-42A3-83C0-FB748CFE9473}" type="presOf" srcId="{513C6384-15A7-49B5-B859-106BCBF61426}" destId="{20AC5F70-29E0-481C-9607-51A5C8CDAEF8}" srcOrd="0" destOrd="0" presId="urn:microsoft.com/office/officeart/2005/8/layout/list1"/>
    <dgm:cxn modelId="{B8573582-A900-4C5A-9894-334D6975C9D5}" type="presOf" srcId="{53F68FF3-BD88-4E49-A0F9-F0572E7B4E13}" destId="{E6B94A98-CDA6-4031-8571-3561C81684C6}" srcOrd="0" destOrd="0" presId="urn:microsoft.com/office/officeart/2005/8/layout/list1"/>
    <dgm:cxn modelId="{10271788-D87E-40F8-A835-2C2A05FC8986}" type="presOf" srcId="{53F68FF3-BD88-4E49-A0F9-F0572E7B4E13}" destId="{E95156D4-5A8E-4DC8-91E9-0E372455840E}" srcOrd="1" destOrd="0" presId="urn:microsoft.com/office/officeart/2005/8/layout/list1"/>
    <dgm:cxn modelId="{4D544C96-6811-4C32-BB8A-EA91453C5C08}" srcId="{B2A55059-ED02-470E-8D39-07FE02C4B0D1}" destId="{6C18A1A3-1BDD-4FC8-BFBD-2173B94907A9}" srcOrd="1" destOrd="0" parTransId="{892C01DC-EC5F-4989-A29A-7BD268C0858D}" sibTransId="{C46E5301-0F3A-46E1-BCD0-2A2EC9698141}"/>
    <dgm:cxn modelId="{669DCA9C-3649-46C2-91F0-A205B50D824F}" type="presOf" srcId="{B2A55059-ED02-470E-8D39-07FE02C4B0D1}" destId="{6BDA4DE8-64C2-4778-B78B-076670DE10FA}" srcOrd="1" destOrd="0" presId="urn:microsoft.com/office/officeart/2005/8/layout/list1"/>
    <dgm:cxn modelId="{136BDB9C-9D22-4684-BAA2-2E931D263DA0}" srcId="{53F68FF3-BD88-4E49-A0F9-F0572E7B4E13}" destId="{BD6D3F32-C4DD-4C24-A999-D7CA070DB004}" srcOrd="1" destOrd="0" parTransId="{6C963B29-08CF-4FD1-A49E-F5826484FEFA}" sibTransId="{44B55B9E-B7D3-46F5-B414-A79D436C93B9}"/>
    <dgm:cxn modelId="{01B2E3B9-61A9-4F08-96A2-22D7137147BA}" srcId="{513C6384-15A7-49B5-B859-106BCBF61426}" destId="{B2A55059-ED02-470E-8D39-07FE02C4B0D1}" srcOrd="0" destOrd="0" parTransId="{D9A4F101-5040-49B5-A3D8-B888F7BB52FE}" sibTransId="{8031BA10-C717-4330-AC38-70D553698B88}"/>
    <dgm:cxn modelId="{661E88C1-D399-4FAC-93F7-681217E00BCA}" srcId="{513C6384-15A7-49B5-B859-106BCBF61426}" destId="{53F68FF3-BD88-4E49-A0F9-F0572E7B4E13}" srcOrd="1" destOrd="0" parTransId="{67F6CFF0-F537-4097-9636-1AC941FC5257}" sibTransId="{31119AE5-3D0C-46EC-8F2E-432B38A2D285}"/>
    <dgm:cxn modelId="{616FD1E0-73D8-4628-A8CE-E024009193EF}" srcId="{53F68FF3-BD88-4E49-A0F9-F0572E7B4E13}" destId="{88DFF8DF-B153-4888-AB52-C63C226CF945}" srcOrd="0" destOrd="0" parTransId="{1E61B620-D93C-4A80-82E9-27F0FEE014BB}" sibTransId="{BC882894-C0F2-4158-B738-29B899271809}"/>
    <dgm:cxn modelId="{92FB3256-CD55-46CE-8362-B0974C561553}" type="presParOf" srcId="{20AC5F70-29E0-481C-9607-51A5C8CDAEF8}" destId="{1A19B140-AD42-47F2-8246-A602CAA72B25}" srcOrd="0" destOrd="0" presId="urn:microsoft.com/office/officeart/2005/8/layout/list1"/>
    <dgm:cxn modelId="{2ECCB1C7-99BC-481C-B122-C9D9D8848F38}" type="presParOf" srcId="{1A19B140-AD42-47F2-8246-A602CAA72B25}" destId="{04CAEC50-15FF-42B8-9903-B25A1A20BFAB}" srcOrd="0" destOrd="0" presId="urn:microsoft.com/office/officeart/2005/8/layout/list1"/>
    <dgm:cxn modelId="{FDD227FC-788C-4098-BB0B-BECEE03DF251}" type="presParOf" srcId="{1A19B140-AD42-47F2-8246-A602CAA72B25}" destId="{6BDA4DE8-64C2-4778-B78B-076670DE10FA}" srcOrd="1" destOrd="0" presId="urn:microsoft.com/office/officeart/2005/8/layout/list1"/>
    <dgm:cxn modelId="{093F1A85-4064-456D-9EA1-CED814F1E9C6}" type="presParOf" srcId="{20AC5F70-29E0-481C-9607-51A5C8CDAEF8}" destId="{8B2A4BE1-B9C3-480A-997F-0E7C99872C01}" srcOrd="1" destOrd="0" presId="urn:microsoft.com/office/officeart/2005/8/layout/list1"/>
    <dgm:cxn modelId="{96CD9AE9-E53D-4235-8873-6F897FC9E734}" type="presParOf" srcId="{20AC5F70-29E0-481C-9607-51A5C8CDAEF8}" destId="{1E32B293-3778-4E09-89E7-322177ABBE25}" srcOrd="2" destOrd="0" presId="urn:microsoft.com/office/officeart/2005/8/layout/list1"/>
    <dgm:cxn modelId="{D660BEDE-7B73-4D9C-A426-A9013A7AC0BB}" type="presParOf" srcId="{20AC5F70-29E0-481C-9607-51A5C8CDAEF8}" destId="{96F90D13-5ACE-400D-91D7-31E574223BDE}" srcOrd="3" destOrd="0" presId="urn:microsoft.com/office/officeart/2005/8/layout/list1"/>
    <dgm:cxn modelId="{F465757C-4B14-4C24-B980-CDF1E79165B1}" type="presParOf" srcId="{20AC5F70-29E0-481C-9607-51A5C8CDAEF8}" destId="{D674221B-8031-4FDA-9664-1F43EB6423BC}" srcOrd="4" destOrd="0" presId="urn:microsoft.com/office/officeart/2005/8/layout/list1"/>
    <dgm:cxn modelId="{70755A64-293B-438B-99A1-921C5AB5317E}" type="presParOf" srcId="{D674221B-8031-4FDA-9664-1F43EB6423BC}" destId="{E6B94A98-CDA6-4031-8571-3561C81684C6}" srcOrd="0" destOrd="0" presId="urn:microsoft.com/office/officeart/2005/8/layout/list1"/>
    <dgm:cxn modelId="{38540377-D7A4-47F6-BA6F-067D0A42A3E8}" type="presParOf" srcId="{D674221B-8031-4FDA-9664-1F43EB6423BC}" destId="{E95156D4-5A8E-4DC8-91E9-0E372455840E}" srcOrd="1" destOrd="0" presId="urn:microsoft.com/office/officeart/2005/8/layout/list1"/>
    <dgm:cxn modelId="{50C681F6-1C96-419A-87AF-0DA073D7FC05}" type="presParOf" srcId="{20AC5F70-29E0-481C-9607-51A5C8CDAEF8}" destId="{0877C4DA-B81B-41A7-8DEA-0AF853BBE255}" srcOrd="5" destOrd="0" presId="urn:microsoft.com/office/officeart/2005/8/layout/list1"/>
    <dgm:cxn modelId="{CA09B3D1-F1E4-43AA-B49E-D0DFE63D38EB}" type="presParOf" srcId="{20AC5F70-29E0-481C-9607-51A5C8CDAEF8}" destId="{792E3B89-5859-41A7-9F34-BB2773FE102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0459AB-D364-4DEE-8B34-5977E76D560F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9827834-F4EC-4918-93B3-F1B31BFE9A39}">
      <dgm:prSet/>
      <dgm:spPr/>
      <dgm:t>
        <a:bodyPr/>
        <a:lstStyle/>
        <a:p>
          <a:r>
            <a:rPr lang="tr-TR" b="1" i="0" baseline="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Deep</a:t>
          </a:r>
          <a:r>
            <a:rPr lang="tr-TR" b="1" i="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tr-TR" b="1" i="0" baseline="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Convolutional</a:t>
          </a:r>
          <a:r>
            <a:rPr lang="tr-TR" b="1" i="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GAN (DCGAN)</a:t>
          </a:r>
          <a:r>
            <a:rPr lang="tr-TR" b="0" i="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tr-TR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Evrişimsel</a:t>
          </a:r>
          <a:r>
            <a:rPr lang="tr-TR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sinir ağları kullanarak görüntü üretir. Görüntülerin detaylarını öğrenmek için derin öğrenme tekniklerini uygular. Genellikle görsel veri üretimi ve düzenleme için kullanılır.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FE13FF-BF0E-4030-9A32-2081991E1AC1}" type="parTrans" cxnId="{EB3926A2-50D0-4F6F-9B2A-69261D1CEE53}">
      <dgm:prSet/>
      <dgm:spPr/>
      <dgm:t>
        <a:bodyPr/>
        <a:lstStyle/>
        <a:p>
          <a:endParaRPr lang="en-US"/>
        </a:p>
      </dgm:t>
    </dgm:pt>
    <dgm:pt modelId="{8BF56D6D-7282-4C3C-8B7F-AFD553129D0B}" type="sibTrans" cxnId="{EB3926A2-50D0-4F6F-9B2A-69261D1CEE53}">
      <dgm:prSet/>
      <dgm:spPr/>
      <dgm:t>
        <a:bodyPr/>
        <a:lstStyle/>
        <a:p>
          <a:endParaRPr lang="en-US"/>
        </a:p>
      </dgm:t>
    </dgm:pt>
    <dgm:pt modelId="{02F2C3B8-8D2E-4FCC-BAA4-4544E765BB10}">
      <dgm:prSet/>
      <dgm:spPr/>
      <dgm:t>
        <a:bodyPr/>
        <a:lstStyle/>
        <a:p>
          <a:r>
            <a:rPr lang="tr-TR" b="1" i="0" baseline="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Conditional</a:t>
          </a:r>
          <a:r>
            <a:rPr lang="tr-TR" b="1" i="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GAN (</a:t>
          </a:r>
          <a:r>
            <a:rPr lang="tr-TR" b="1" i="0" baseline="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cGAN</a:t>
          </a:r>
          <a:r>
            <a:rPr lang="tr-TR" b="1" i="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r>
            <a:rPr lang="tr-TR" b="0" i="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tr-TR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Üreteç ve ayırıcıya ek bilgi (örneğin etiket veya metin) ekleyerek belirli koşullar altında veri üretir. Bu sayede, koşullu veri üretimi yapılabilir. Etiketli veri kullanarak özelleştirilmiş çıktılar üretir.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EA34A7-ED3E-45EA-AE74-A165F0007AEB}" type="parTrans" cxnId="{B2FCC4BB-79A0-4259-86EE-B3ADCA836056}">
      <dgm:prSet/>
      <dgm:spPr/>
      <dgm:t>
        <a:bodyPr/>
        <a:lstStyle/>
        <a:p>
          <a:endParaRPr lang="en-US"/>
        </a:p>
      </dgm:t>
    </dgm:pt>
    <dgm:pt modelId="{6282B9B0-1B29-41E8-B0AB-5E4B482101C3}" type="sibTrans" cxnId="{B2FCC4BB-79A0-4259-86EE-B3ADCA836056}">
      <dgm:prSet/>
      <dgm:spPr/>
      <dgm:t>
        <a:bodyPr/>
        <a:lstStyle/>
        <a:p>
          <a:endParaRPr lang="en-US"/>
        </a:p>
      </dgm:t>
    </dgm:pt>
    <dgm:pt modelId="{D2FAFA38-D6BE-4926-A300-879CAE46C320}">
      <dgm:prSet/>
      <dgm:spPr/>
      <dgm:t>
        <a:bodyPr/>
        <a:lstStyle/>
        <a:p>
          <a:r>
            <a:rPr lang="tr-TR" b="1" i="0" baseline="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CycleGAN</a:t>
          </a:r>
          <a:r>
            <a:rPr lang="tr-TR" b="0" i="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tr-TR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Eşleşmiş veri gerektirmeden bir görüntü setini başka bir setle dönüştürür. İki farklı domain arasında dönüşüm yapabilir, örneğin fotoğrafları sanat tarzında resimlere dönüştürür. Stil transferi ve görüntüden görüntüye dönüşümde kullanılır.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7B4278-67B7-4C70-9578-8E02AB474770}" type="parTrans" cxnId="{381C0F9C-63AB-485C-82CA-F3E7F8FAA7BE}">
      <dgm:prSet/>
      <dgm:spPr/>
      <dgm:t>
        <a:bodyPr/>
        <a:lstStyle/>
        <a:p>
          <a:endParaRPr lang="en-US"/>
        </a:p>
      </dgm:t>
    </dgm:pt>
    <dgm:pt modelId="{5EBB7901-558F-4D56-8582-C5ECB5DFE11F}" type="sibTrans" cxnId="{381C0F9C-63AB-485C-82CA-F3E7F8FAA7BE}">
      <dgm:prSet/>
      <dgm:spPr/>
      <dgm:t>
        <a:bodyPr/>
        <a:lstStyle/>
        <a:p>
          <a:endParaRPr lang="en-US"/>
        </a:p>
      </dgm:t>
    </dgm:pt>
    <dgm:pt modelId="{0B3B940B-BAD2-4FBA-8B34-BE179BA87BED}">
      <dgm:prSet/>
      <dgm:spPr/>
      <dgm:t>
        <a:bodyPr/>
        <a:lstStyle/>
        <a:p>
          <a:r>
            <a:rPr lang="tr-T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Pix2Pix GAN: </a:t>
          </a:r>
          <a:r>
            <a:rPr lang="tr-TR" dirty="0">
              <a:latin typeface="Times New Roman" panose="02020603050405020304" pitchFamily="18" charset="0"/>
              <a:cs typeface="Times New Roman" panose="02020603050405020304" pitchFamily="18" charset="0"/>
            </a:rPr>
            <a:t>Giriş ve çıkış görüntüleri arasında eşleşmiş veri çiftleri kullanarak görüntüden görüntüye dönüşüm yapar. Örneğin, bir taslak çizimini gerçekçi bir görüntüye dönüştürür. Görüntü düzenleme ve haritalama gibi uygulamalarda sıkça kullanılır.</a:t>
          </a:r>
        </a:p>
      </dgm:t>
    </dgm:pt>
    <dgm:pt modelId="{C29E5473-6DC7-43D1-97D3-D0B938AA0F64}" type="parTrans" cxnId="{7E45E286-4B5C-4A21-BEDA-A88082ED1ED0}">
      <dgm:prSet/>
      <dgm:spPr/>
      <dgm:t>
        <a:bodyPr/>
        <a:lstStyle/>
        <a:p>
          <a:endParaRPr lang="tr-TR"/>
        </a:p>
      </dgm:t>
    </dgm:pt>
    <dgm:pt modelId="{91A1A154-1693-447F-A40D-F69775C3CDF3}" type="sibTrans" cxnId="{7E45E286-4B5C-4A21-BEDA-A88082ED1ED0}">
      <dgm:prSet/>
      <dgm:spPr/>
      <dgm:t>
        <a:bodyPr/>
        <a:lstStyle/>
        <a:p>
          <a:endParaRPr lang="tr-TR"/>
        </a:p>
      </dgm:t>
    </dgm:pt>
    <dgm:pt modelId="{8303B4EA-1036-4EDA-AF1D-A5F4C917DD99}">
      <dgm:prSet/>
      <dgm:spPr/>
      <dgm:t>
        <a:bodyPr/>
        <a:lstStyle/>
        <a:p>
          <a:r>
            <a:rPr lang="tr-T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StyleGAN: </a:t>
          </a:r>
          <a:r>
            <a:rPr lang="tr-TR" dirty="0">
              <a:latin typeface="Times New Roman" panose="02020603050405020304" pitchFamily="18" charset="0"/>
              <a:cs typeface="Times New Roman" panose="02020603050405020304" pitchFamily="18" charset="0"/>
            </a:rPr>
            <a:t>Yüksek çözünürlüklü ve gerçekçi görüntüler üretir. Görüntülerin stil özelliklerini kontrol ederek, yaş, ifade veya diğer detaylarda değişiklik yapılmasını sağlar. İnsan yüzü üretimi ve içerik oluşturma alanlarında kullanılır.</a:t>
          </a:r>
        </a:p>
      </dgm:t>
    </dgm:pt>
    <dgm:pt modelId="{232D5133-16EC-43BA-ABBD-9654EE77BF42}" type="parTrans" cxnId="{84D28116-AA40-4F57-975F-215E84BA2440}">
      <dgm:prSet/>
      <dgm:spPr/>
      <dgm:t>
        <a:bodyPr/>
        <a:lstStyle/>
        <a:p>
          <a:endParaRPr lang="tr-TR"/>
        </a:p>
      </dgm:t>
    </dgm:pt>
    <dgm:pt modelId="{8689BB04-F4C3-4DF1-AF9A-FD53C4730982}" type="sibTrans" cxnId="{84D28116-AA40-4F57-975F-215E84BA2440}">
      <dgm:prSet/>
      <dgm:spPr/>
      <dgm:t>
        <a:bodyPr/>
        <a:lstStyle/>
        <a:p>
          <a:endParaRPr lang="tr-TR"/>
        </a:p>
      </dgm:t>
    </dgm:pt>
    <dgm:pt modelId="{9D624546-10C3-4BE3-8346-ED663452454A}" type="pres">
      <dgm:prSet presAssocID="{810459AB-D364-4DEE-8B34-5977E76D560F}" presName="diagram" presStyleCnt="0">
        <dgm:presLayoutVars>
          <dgm:dir/>
          <dgm:resizeHandles val="exact"/>
        </dgm:presLayoutVars>
      </dgm:prSet>
      <dgm:spPr/>
    </dgm:pt>
    <dgm:pt modelId="{79161020-3C6D-46D7-9EF5-963CB71801F7}" type="pres">
      <dgm:prSet presAssocID="{99827834-F4EC-4918-93B3-F1B31BFE9A39}" presName="node" presStyleLbl="node1" presStyleIdx="0" presStyleCnt="5">
        <dgm:presLayoutVars>
          <dgm:bulletEnabled val="1"/>
        </dgm:presLayoutVars>
      </dgm:prSet>
      <dgm:spPr/>
    </dgm:pt>
    <dgm:pt modelId="{D0D3E2AD-BD03-4BCE-A4A4-7BC1704A3427}" type="pres">
      <dgm:prSet presAssocID="{8BF56D6D-7282-4C3C-8B7F-AFD553129D0B}" presName="sibTrans" presStyleCnt="0"/>
      <dgm:spPr/>
    </dgm:pt>
    <dgm:pt modelId="{C6E96476-2FC9-4F61-947C-B9D38D9CCB4F}" type="pres">
      <dgm:prSet presAssocID="{02F2C3B8-8D2E-4FCC-BAA4-4544E765BB10}" presName="node" presStyleLbl="node1" presStyleIdx="1" presStyleCnt="5">
        <dgm:presLayoutVars>
          <dgm:bulletEnabled val="1"/>
        </dgm:presLayoutVars>
      </dgm:prSet>
      <dgm:spPr/>
    </dgm:pt>
    <dgm:pt modelId="{E2149440-2670-4D98-AD82-DAE883C6107A}" type="pres">
      <dgm:prSet presAssocID="{6282B9B0-1B29-41E8-B0AB-5E4B482101C3}" presName="sibTrans" presStyleCnt="0"/>
      <dgm:spPr/>
    </dgm:pt>
    <dgm:pt modelId="{BAC15D6D-D292-4009-ABD8-9807905E1970}" type="pres">
      <dgm:prSet presAssocID="{D2FAFA38-D6BE-4926-A300-879CAE46C320}" presName="node" presStyleLbl="node1" presStyleIdx="2" presStyleCnt="5">
        <dgm:presLayoutVars>
          <dgm:bulletEnabled val="1"/>
        </dgm:presLayoutVars>
      </dgm:prSet>
      <dgm:spPr/>
    </dgm:pt>
    <dgm:pt modelId="{C0CB7E1D-F335-42DB-B535-AE5F4FCB690D}" type="pres">
      <dgm:prSet presAssocID="{5EBB7901-558F-4D56-8582-C5ECB5DFE11F}" presName="sibTrans" presStyleCnt="0"/>
      <dgm:spPr/>
    </dgm:pt>
    <dgm:pt modelId="{6F2E4357-BE44-4605-ADA0-A2610CF2AD87}" type="pres">
      <dgm:prSet presAssocID="{0B3B940B-BAD2-4FBA-8B34-BE179BA87BED}" presName="node" presStyleLbl="node1" presStyleIdx="3" presStyleCnt="5">
        <dgm:presLayoutVars>
          <dgm:bulletEnabled val="1"/>
        </dgm:presLayoutVars>
      </dgm:prSet>
      <dgm:spPr/>
    </dgm:pt>
    <dgm:pt modelId="{0E29D86D-6159-463F-A85E-C89DD3E5067B}" type="pres">
      <dgm:prSet presAssocID="{91A1A154-1693-447F-A40D-F69775C3CDF3}" presName="sibTrans" presStyleCnt="0"/>
      <dgm:spPr/>
    </dgm:pt>
    <dgm:pt modelId="{ABA23F94-C6CB-477D-A104-7342021C2245}" type="pres">
      <dgm:prSet presAssocID="{8303B4EA-1036-4EDA-AF1D-A5F4C917DD99}" presName="node" presStyleLbl="node1" presStyleIdx="4" presStyleCnt="5">
        <dgm:presLayoutVars>
          <dgm:bulletEnabled val="1"/>
        </dgm:presLayoutVars>
      </dgm:prSet>
      <dgm:spPr/>
    </dgm:pt>
  </dgm:ptLst>
  <dgm:cxnLst>
    <dgm:cxn modelId="{24FCEE00-AC07-492B-9CC8-A17758EE955C}" type="presOf" srcId="{99827834-F4EC-4918-93B3-F1B31BFE9A39}" destId="{79161020-3C6D-46D7-9EF5-963CB71801F7}" srcOrd="0" destOrd="0" presId="urn:microsoft.com/office/officeart/2005/8/layout/default"/>
    <dgm:cxn modelId="{0D83A909-A579-415D-92FB-4EF2C892FEE7}" type="presOf" srcId="{8303B4EA-1036-4EDA-AF1D-A5F4C917DD99}" destId="{ABA23F94-C6CB-477D-A104-7342021C2245}" srcOrd="0" destOrd="0" presId="urn:microsoft.com/office/officeart/2005/8/layout/default"/>
    <dgm:cxn modelId="{C9B51412-0C03-4D57-9828-47D0B6FA938E}" type="presOf" srcId="{810459AB-D364-4DEE-8B34-5977E76D560F}" destId="{9D624546-10C3-4BE3-8346-ED663452454A}" srcOrd="0" destOrd="0" presId="urn:microsoft.com/office/officeart/2005/8/layout/default"/>
    <dgm:cxn modelId="{84D28116-AA40-4F57-975F-215E84BA2440}" srcId="{810459AB-D364-4DEE-8B34-5977E76D560F}" destId="{8303B4EA-1036-4EDA-AF1D-A5F4C917DD99}" srcOrd="4" destOrd="0" parTransId="{232D5133-16EC-43BA-ABBD-9654EE77BF42}" sibTransId="{8689BB04-F4C3-4DF1-AF9A-FD53C4730982}"/>
    <dgm:cxn modelId="{FCD83936-55D7-4B81-A96D-C706D4E04CFC}" type="presOf" srcId="{0B3B940B-BAD2-4FBA-8B34-BE179BA87BED}" destId="{6F2E4357-BE44-4605-ADA0-A2610CF2AD87}" srcOrd="0" destOrd="0" presId="urn:microsoft.com/office/officeart/2005/8/layout/default"/>
    <dgm:cxn modelId="{7E45E286-4B5C-4A21-BEDA-A88082ED1ED0}" srcId="{810459AB-D364-4DEE-8B34-5977E76D560F}" destId="{0B3B940B-BAD2-4FBA-8B34-BE179BA87BED}" srcOrd="3" destOrd="0" parTransId="{C29E5473-6DC7-43D1-97D3-D0B938AA0F64}" sibTransId="{91A1A154-1693-447F-A40D-F69775C3CDF3}"/>
    <dgm:cxn modelId="{381C0F9C-63AB-485C-82CA-F3E7F8FAA7BE}" srcId="{810459AB-D364-4DEE-8B34-5977E76D560F}" destId="{D2FAFA38-D6BE-4926-A300-879CAE46C320}" srcOrd="2" destOrd="0" parTransId="{E87B4278-67B7-4C70-9578-8E02AB474770}" sibTransId="{5EBB7901-558F-4D56-8582-C5ECB5DFE11F}"/>
    <dgm:cxn modelId="{EB22F39E-D5C3-4BB7-B5F8-7208E743652D}" type="presOf" srcId="{D2FAFA38-D6BE-4926-A300-879CAE46C320}" destId="{BAC15D6D-D292-4009-ABD8-9807905E1970}" srcOrd="0" destOrd="0" presId="urn:microsoft.com/office/officeart/2005/8/layout/default"/>
    <dgm:cxn modelId="{EB3926A2-50D0-4F6F-9B2A-69261D1CEE53}" srcId="{810459AB-D364-4DEE-8B34-5977E76D560F}" destId="{99827834-F4EC-4918-93B3-F1B31BFE9A39}" srcOrd="0" destOrd="0" parTransId="{A4FE13FF-BF0E-4030-9A32-2081991E1AC1}" sibTransId="{8BF56D6D-7282-4C3C-8B7F-AFD553129D0B}"/>
    <dgm:cxn modelId="{39A0A8B3-EBE1-4A90-8A1F-40EED849FD77}" type="presOf" srcId="{02F2C3B8-8D2E-4FCC-BAA4-4544E765BB10}" destId="{C6E96476-2FC9-4F61-947C-B9D38D9CCB4F}" srcOrd="0" destOrd="0" presId="urn:microsoft.com/office/officeart/2005/8/layout/default"/>
    <dgm:cxn modelId="{B2FCC4BB-79A0-4259-86EE-B3ADCA836056}" srcId="{810459AB-D364-4DEE-8B34-5977E76D560F}" destId="{02F2C3B8-8D2E-4FCC-BAA4-4544E765BB10}" srcOrd="1" destOrd="0" parTransId="{71EA34A7-ED3E-45EA-AE74-A165F0007AEB}" sibTransId="{6282B9B0-1B29-41E8-B0AB-5E4B482101C3}"/>
    <dgm:cxn modelId="{82EE5C0A-807D-453A-8A1B-EBE604DB8C02}" type="presParOf" srcId="{9D624546-10C3-4BE3-8346-ED663452454A}" destId="{79161020-3C6D-46D7-9EF5-963CB71801F7}" srcOrd="0" destOrd="0" presId="urn:microsoft.com/office/officeart/2005/8/layout/default"/>
    <dgm:cxn modelId="{1FC934E2-6F58-491E-8C03-A5A1377801D0}" type="presParOf" srcId="{9D624546-10C3-4BE3-8346-ED663452454A}" destId="{D0D3E2AD-BD03-4BCE-A4A4-7BC1704A3427}" srcOrd="1" destOrd="0" presId="urn:microsoft.com/office/officeart/2005/8/layout/default"/>
    <dgm:cxn modelId="{9A454814-1EB4-4212-9669-E835D0E8B2E7}" type="presParOf" srcId="{9D624546-10C3-4BE3-8346-ED663452454A}" destId="{C6E96476-2FC9-4F61-947C-B9D38D9CCB4F}" srcOrd="2" destOrd="0" presId="urn:microsoft.com/office/officeart/2005/8/layout/default"/>
    <dgm:cxn modelId="{65715373-42D9-45CB-90E3-FA2C331792D3}" type="presParOf" srcId="{9D624546-10C3-4BE3-8346-ED663452454A}" destId="{E2149440-2670-4D98-AD82-DAE883C6107A}" srcOrd="3" destOrd="0" presId="urn:microsoft.com/office/officeart/2005/8/layout/default"/>
    <dgm:cxn modelId="{91325C3D-B73D-4DFB-A616-514AE38CE4D7}" type="presParOf" srcId="{9D624546-10C3-4BE3-8346-ED663452454A}" destId="{BAC15D6D-D292-4009-ABD8-9807905E1970}" srcOrd="4" destOrd="0" presId="urn:microsoft.com/office/officeart/2005/8/layout/default"/>
    <dgm:cxn modelId="{C6E0D9B5-9822-41E8-B670-F64AF20ACACE}" type="presParOf" srcId="{9D624546-10C3-4BE3-8346-ED663452454A}" destId="{C0CB7E1D-F335-42DB-B535-AE5F4FCB690D}" srcOrd="5" destOrd="0" presId="urn:microsoft.com/office/officeart/2005/8/layout/default"/>
    <dgm:cxn modelId="{5D9F2716-22CB-4FAB-B0AD-2E05B8FEB75A}" type="presParOf" srcId="{9D624546-10C3-4BE3-8346-ED663452454A}" destId="{6F2E4357-BE44-4605-ADA0-A2610CF2AD87}" srcOrd="6" destOrd="0" presId="urn:microsoft.com/office/officeart/2005/8/layout/default"/>
    <dgm:cxn modelId="{BEB92477-B07D-4F94-BD4B-438523A43110}" type="presParOf" srcId="{9D624546-10C3-4BE3-8346-ED663452454A}" destId="{0E29D86D-6159-463F-A85E-C89DD3E5067B}" srcOrd="7" destOrd="0" presId="urn:microsoft.com/office/officeart/2005/8/layout/default"/>
    <dgm:cxn modelId="{B33B6B21-316A-4F49-8826-B57A315DD10A}" type="presParOf" srcId="{9D624546-10C3-4BE3-8346-ED663452454A}" destId="{ABA23F94-C6CB-477D-A104-7342021C224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2B1852-4811-4142-81DA-288A1803103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20A13AE7-DD7D-4E13-BB31-8ABDD38C44A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baseline="0" dirty="0"/>
            <a:t>Yapay zeka tarafından üretilen ve açık artırmada 432.500 dolara satılan ilk tablo, </a:t>
          </a:r>
          <a:r>
            <a:rPr lang="tr-TR" b="0" i="0" baseline="0" dirty="0" err="1"/>
            <a:t>GAN’lerin</a:t>
          </a:r>
          <a:r>
            <a:rPr lang="tr-TR" b="0" i="0" baseline="0" dirty="0"/>
            <a:t> yaratıcı potansiyelini gösteren önemli bir örnektir.</a:t>
          </a:r>
          <a:endParaRPr lang="en-US" dirty="0"/>
        </a:p>
      </dgm:t>
    </dgm:pt>
    <dgm:pt modelId="{2035A2DA-B1EE-4423-9B46-1563164E816A}" type="parTrans" cxnId="{6CBDA4EC-A742-432F-BE35-8D77E0ABCBC7}">
      <dgm:prSet/>
      <dgm:spPr/>
      <dgm:t>
        <a:bodyPr/>
        <a:lstStyle/>
        <a:p>
          <a:endParaRPr lang="en-US"/>
        </a:p>
      </dgm:t>
    </dgm:pt>
    <dgm:pt modelId="{AC2FE053-988F-4731-A9A0-D4B838694A2B}" type="sibTrans" cxnId="{6CBDA4EC-A742-432F-BE35-8D77E0ABCBC7}">
      <dgm:prSet/>
      <dgm:spPr/>
      <dgm:t>
        <a:bodyPr/>
        <a:lstStyle/>
        <a:p>
          <a:endParaRPr lang="en-US"/>
        </a:p>
      </dgm:t>
    </dgm:pt>
    <dgm:pt modelId="{E609719B-9A88-4568-A5DD-F13624B6E45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baseline="0" dirty="0"/>
            <a:t>Pix2Pix gibi popüler uygulamalar, siyah beyazdan renkli resim üretimi veya çizimlerden gerçekçi görüntüler oluşturma gibi dönüşümleri başarıyla gerçekleştirmektedir.</a:t>
          </a:r>
          <a:endParaRPr lang="en-US" dirty="0"/>
        </a:p>
      </dgm:t>
    </dgm:pt>
    <dgm:pt modelId="{509C8D44-58C4-4163-97CC-DE427CAB53AB}" type="parTrans" cxnId="{9D5D69DC-E0BF-46FD-A993-21744DC4D1A1}">
      <dgm:prSet/>
      <dgm:spPr/>
      <dgm:t>
        <a:bodyPr/>
        <a:lstStyle/>
        <a:p>
          <a:endParaRPr lang="en-US"/>
        </a:p>
      </dgm:t>
    </dgm:pt>
    <dgm:pt modelId="{F24E4C72-771A-4564-B9C9-4E93B42C1926}" type="sibTrans" cxnId="{9D5D69DC-E0BF-46FD-A993-21744DC4D1A1}">
      <dgm:prSet/>
      <dgm:spPr/>
      <dgm:t>
        <a:bodyPr/>
        <a:lstStyle/>
        <a:p>
          <a:endParaRPr lang="en-US"/>
        </a:p>
      </dgm:t>
    </dgm:pt>
    <dgm:pt modelId="{D32E6A6F-1573-419D-99DB-84E66DDD2523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173D2E10-BED2-4D4B-AC11-9011AE53F33B}" type="parTrans" cxnId="{4C86A899-E03D-425E-B1C6-622CF68E16AA}">
      <dgm:prSet/>
      <dgm:spPr/>
      <dgm:t>
        <a:bodyPr/>
        <a:lstStyle/>
        <a:p>
          <a:endParaRPr lang="en-US"/>
        </a:p>
      </dgm:t>
    </dgm:pt>
    <dgm:pt modelId="{D1CDD2AA-1EB4-4CCA-8668-27D53981FCC7}" type="sibTrans" cxnId="{4C86A899-E03D-425E-B1C6-622CF68E16AA}">
      <dgm:prSet/>
      <dgm:spPr/>
      <dgm:t>
        <a:bodyPr/>
        <a:lstStyle/>
        <a:p>
          <a:endParaRPr lang="en-US"/>
        </a:p>
      </dgm:t>
    </dgm:pt>
    <dgm:pt modelId="{2C2E389A-DF74-4EDC-BB30-BCC1B8A97F13}" type="pres">
      <dgm:prSet presAssocID="{1A2B1852-4811-4142-81DA-288A1803103F}" presName="root" presStyleCnt="0">
        <dgm:presLayoutVars>
          <dgm:dir/>
          <dgm:resizeHandles val="exact"/>
        </dgm:presLayoutVars>
      </dgm:prSet>
      <dgm:spPr/>
    </dgm:pt>
    <dgm:pt modelId="{A21AA4B9-80A4-4F21-AA33-882C66657A37}" type="pres">
      <dgm:prSet presAssocID="{20A13AE7-DD7D-4E13-BB31-8ABDD38C44A3}" presName="compNode" presStyleCnt="0"/>
      <dgm:spPr/>
    </dgm:pt>
    <dgm:pt modelId="{6693C04E-A8C8-46B2-BC4A-B5693FE80E49}" type="pres">
      <dgm:prSet presAssocID="{20A13AE7-DD7D-4E13-BB31-8ABDD38C44A3}" presName="bgRect" presStyleLbl="bgShp" presStyleIdx="0" presStyleCnt="3"/>
      <dgm:spPr/>
    </dgm:pt>
    <dgm:pt modelId="{891859FF-14C6-4B2A-AE04-4E95F5BBC233}" type="pres">
      <dgm:prSet presAssocID="{20A13AE7-DD7D-4E13-BB31-8ABDD38C44A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"/>
        </a:ext>
      </dgm:extLst>
    </dgm:pt>
    <dgm:pt modelId="{C80D5164-C983-4050-89AC-92B0510E6D2A}" type="pres">
      <dgm:prSet presAssocID="{20A13AE7-DD7D-4E13-BB31-8ABDD38C44A3}" presName="spaceRect" presStyleCnt="0"/>
      <dgm:spPr/>
    </dgm:pt>
    <dgm:pt modelId="{2571A884-54AA-4EDE-8F1F-7EB44BA942CF}" type="pres">
      <dgm:prSet presAssocID="{20A13AE7-DD7D-4E13-BB31-8ABDD38C44A3}" presName="parTx" presStyleLbl="revTx" presStyleIdx="0" presStyleCnt="3" custLinFactNeighborX="-1968" custLinFactNeighborY="-43">
        <dgm:presLayoutVars>
          <dgm:chMax val="0"/>
          <dgm:chPref val="0"/>
        </dgm:presLayoutVars>
      </dgm:prSet>
      <dgm:spPr/>
    </dgm:pt>
    <dgm:pt modelId="{7C1495F5-E7E5-4857-8357-F06A9F5A23AC}" type="pres">
      <dgm:prSet presAssocID="{AC2FE053-988F-4731-A9A0-D4B838694A2B}" presName="sibTrans" presStyleCnt="0"/>
      <dgm:spPr/>
    </dgm:pt>
    <dgm:pt modelId="{A29B5E54-CCD0-41D4-8C5C-4D2120BB546F}" type="pres">
      <dgm:prSet presAssocID="{E609719B-9A88-4568-A5DD-F13624B6E452}" presName="compNode" presStyleCnt="0"/>
      <dgm:spPr/>
    </dgm:pt>
    <dgm:pt modelId="{6F939D92-3926-4736-B431-70285DAF8B5A}" type="pres">
      <dgm:prSet presAssocID="{E609719B-9A88-4568-A5DD-F13624B6E452}" presName="bgRect" presStyleLbl="bgShp" presStyleIdx="1" presStyleCnt="3"/>
      <dgm:spPr/>
    </dgm:pt>
    <dgm:pt modelId="{8F2B4FB8-D943-4748-9EC6-B27D3E74710F}" type="pres">
      <dgm:prSet presAssocID="{E609719B-9A88-4568-A5DD-F13624B6E4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örüntü"/>
        </a:ext>
      </dgm:extLst>
    </dgm:pt>
    <dgm:pt modelId="{40760672-C103-41A8-8F24-6FA0B16A6B72}" type="pres">
      <dgm:prSet presAssocID="{E609719B-9A88-4568-A5DD-F13624B6E452}" presName="spaceRect" presStyleCnt="0"/>
      <dgm:spPr/>
    </dgm:pt>
    <dgm:pt modelId="{A38D496E-CBBA-4989-9AEB-90EFAE864C4D}" type="pres">
      <dgm:prSet presAssocID="{E609719B-9A88-4568-A5DD-F13624B6E452}" presName="parTx" presStyleLbl="revTx" presStyleIdx="1" presStyleCnt="3" custLinFactNeighborX="-3435">
        <dgm:presLayoutVars>
          <dgm:chMax val="0"/>
          <dgm:chPref val="0"/>
        </dgm:presLayoutVars>
      </dgm:prSet>
      <dgm:spPr/>
    </dgm:pt>
    <dgm:pt modelId="{936E1883-8299-4E54-946F-B3EDDD0C3DB9}" type="pres">
      <dgm:prSet presAssocID="{F24E4C72-771A-4564-B9C9-4E93B42C1926}" presName="sibTrans" presStyleCnt="0"/>
      <dgm:spPr/>
    </dgm:pt>
    <dgm:pt modelId="{6ED34568-E51D-440F-899D-0D725523A456}" type="pres">
      <dgm:prSet presAssocID="{D32E6A6F-1573-419D-99DB-84E66DDD2523}" presName="compNode" presStyleCnt="0"/>
      <dgm:spPr/>
    </dgm:pt>
    <dgm:pt modelId="{51836427-FFA7-4B89-89AC-CAB3875B8D48}" type="pres">
      <dgm:prSet presAssocID="{D32E6A6F-1573-419D-99DB-84E66DDD2523}" presName="bgRect" presStyleLbl="bgShp" presStyleIdx="2" presStyleCnt="3" custLinFactNeighborX="19924" custLinFactNeighborY="43"/>
      <dgm:spPr/>
    </dgm:pt>
    <dgm:pt modelId="{E5211555-3B22-45F1-AC66-FCE50BD9420E}" type="pres">
      <dgm:prSet presAssocID="{D32E6A6F-1573-419D-99DB-84E66DDD252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kış Çizelgesi"/>
        </a:ext>
      </dgm:extLst>
    </dgm:pt>
    <dgm:pt modelId="{3635F150-2070-4276-B725-71318632A105}" type="pres">
      <dgm:prSet presAssocID="{D32E6A6F-1573-419D-99DB-84E66DDD2523}" presName="spaceRect" presStyleCnt="0"/>
      <dgm:spPr/>
    </dgm:pt>
    <dgm:pt modelId="{9D36514E-8D4C-45B7-880D-E094F241C39B}" type="pres">
      <dgm:prSet presAssocID="{D32E6A6F-1573-419D-99DB-84E66DDD2523}" presName="parTx" presStyleLbl="revTx" presStyleIdx="2" presStyleCnt="3" custLinFactNeighborX="-17357" custLinFactNeighborY="96893">
        <dgm:presLayoutVars>
          <dgm:chMax val="0"/>
          <dgm:chPref val="0"/>
        </dgm:presLayoutVars>
      </dgm:prSet>
      <dgm:spPr/>
    </dgm:pt>
  </dgm:ptLst>
  <dgm:cxnLst>
    <dgm:cxn modelId="{0162D516-6364-42D3-AA7B-66473D47C1EC}" type="presOf" srcId="{20A13AE7-DD7D-4E13-BB31-8ABDD38C44A3}" destId="{2571A884-54AA-4EDE-8F1F-7EB44BA942CF}" srcOrd="0" destOrd="0" presId="urn:microsoft.com/office/officeart/2018/2/layout/IconVerticalSolidList"/>
    <dgm:cxn modelId="{B41D1166-FC93-4AB2-B345-3DB6E6EDC237}" type="presOf" srcId="{1A2B1852-4811-4142-81DA-288A1803103F}" destId="{2C2E389A-DF74-4EDC-BB30-BCC1B8A97F13}" srcOrd="0" destOrd="0" presId="urn:microsoft.com/office/officeart/2018/2/layout/IconVerticalSolidList"/>
    <dgm:cxn modelId="{059A9076-793A-4AB2-BDB4-AAA75ACF16BB}" type="presOf" srcId="{E609719B-9A88-4568-A5DD-F13624B6E452}" destId="{A38D496E-CBBA-4989-9AEB-90EFAE864C4D}" srcOrd="0" destOrd="0" presId="urn:microsoft.com/office/officeart/2018/2/layout/IconVerticalSolidList"/>
    <dgm:cxn modelId="{FEEF888F-89E0-428C-B9BC-5B220A1633C3}" type="presOf" srcId="{D32E6A6F-1573-419D-99DB-84E66DDD2523}" destId="{9D36514E-8D4C-45B7-880D-E094F241C39B}" srcOrd="0" destOrd="0" presId="urn:microsoft.com/office/officeart/2018/2/layout/IconVerticalSolidList"/>
    <dgm:cxn modelId="{4C86A899-E03D-425E-B1C6-622CF68E16AA}" srcId="{1A2B1852-4811-4142-81DA-288A1803103F}" destId="{D32E6A6F-1573-419D-99DB-84E66DDD2523}" srcOrd="2" destOrd="0" parTransId="{173D2E10-BED2-4D4B-AC11-9011AE53F33B}" sibTransId="{D1CDD2AA-1EB4-4CCA-8668-27D53981FCC7}"/>
    <dgm:cxn modelId="{9D5D69DC-E0BF-46FD-A993-21744DC4D1A1}" srcId="{1A2B1852-4811-4142-81DA-288A1803103F}" destId="{E609719B-9A88-4568-A5DD-F13624B6E452}" srcOrd="1" destOrd="0" parTransId="{509C8D44-58C4-4163-97CC-DE427CAB53AB}" sibTransId="{F24E4C72-771A-4564-B9C9-4E93B42C1926}"/>
    <dgm:cxn modelId="{6CBDA4EC-A742-432F-BE35-8D77E0ABCBC7}" srcId="{1A2B1852-4811-4142-81DA-288A1803103F}" destId="{20A13AE7-DD7D-4E13-BB31-8ABDD38C44A3}" srcOrd="0" destOrd="0" parTransId="{2035A2DA-B1EE-4423-9B46-1563164E816A}" sibTransId="{AC2FE053-988F-4731-A9A0-D4B838694A2B}"/>
    <dgm:cxn modelId="{673A3AA1-C1B1-4A06-B698-DBF9BC50B164}" type="presParOf" srcId="{2C2E389A-DF74-4EDC-BB30-BCC1B8A97F13}" destId="{A21AA4B9-80A4-4F21-AA33-882C66657A37}" srcOrd="0" destOrd="0" presId="urn:microsoft.com/office/officeart/2018/2/layout/IconVerticalSolidList"/>
    <dgm:cxn modelId="{52EE1B5A-86C7-458E-AE8A-D85EE6DDADE7}" type="presParOf" srcId="{A21AA4B9-80A4-4F21-AA33-882C66657A37}" destId="{6693C04E-A8C8-46B2-BC4A-B5693FE80E49}" srcOrd="0" destOrd="0" presId="urn:microsoft.com/office/officeart/2018/2/layout/IconVerticalSolidList"/>
    <dgm:cxn modelId="{F69746D0-BB24-410B-B644-B3E1032AC3C3}" type="presParOf" srcId="{A21AA4B9-80A4-4F21-AA33-882C66657A37}" destId="{891859FF-14C6-4B2A-AE04-4E95F5BBC233}" srcOrd="1" destOrd="0" presId="urn:microsoft.com/office/officeart/2018/2/layout/IconVerticalSolidList"/>
    <dgm:cxn modelId="{7F2DE086-02FF-48C5-82AD-3F0464A1F428}" type="presParOf" srcId="{A21AA4B9-80A4-4F21-AA33-882C66657A37}" destId="{C80D5164-C983-4050-89AC-92B0510E6D2A}" srcOrd="2" destOrd="0" presId="urn:microsoft.com/office/officeart/2018/2/layout/IconVerticalSolidList"/>
    <dgm:cxn modelId="{5028F9FD-EC56-4476-AD86-102A5FE0C183}" type="presParOf" srcId="{A21AA4B9-80A4-4F21-AA33-882C66657A37}" destId="{2571A884-54AA-4EDE-8F1F-7EB44BA942CF}" srcOrd="3" destOrd="0" presId="urn:microsoft.com/office/officeart/2018/2/layout/IconVerticalSolidList"/>
    <dgm:cxn modelId="{52FDD467-20E2-4F22-AA70-1AD4B1E70A93}" type="presParOf" srcId="{2C2E389A-DF74-4EDC-BB30-BCC1B8A97F13}" destId="{7C1495F5-E7E5-4857-8357-F06A9F5A23AC}" srcOrd="1" destOrd="0" presId="urn:microsoft.com/office/officeart/2018/2/layout/IconVerticalSolidList"/>
    <dgm:cxn modelId="{DB7AA04F-BB68-42F9-8E66-FE7DAD28B86E}" type="presParOf" srcId="{2C2E389A-DF74-4EDC-BB30-BCC1B8A97F13}" destId="{A29B5E54-CCD0-41D4-8C5C-4D2120BB546F}" srcOrd="2" destOrd="0" presId="urn:microsoft.com/office/officeart/2018/2/layout/IconVerticalSolidList"/>
    <dgm:cxn modelId="{5AEFAF37-DEC2-4B4A-A796-C4039BB99913}" type="presParOf" srcId="{A29B5E54-CCD0-41D4-8C5C-4D2120BB546F}" destId="{6F939D92-3926-4736-B431-70285DAF8B5A}" srcOrd="0" destOrd="0" presId="urn:microsoft.com/office/officeart/2018/2/layout/IconVerticalSolidList"/>
    <dgm:cxn modelId="{B8A722AB-A157-4BBE-98D8-08C670069E66}" type="presParOf" srcId="{A29B5E54-CCD0-41D4-8C5C-4D2120BB546F}" destId="{8F2B4FB8-D943-4748-9EC6-B27D3E74710F}" srcOrd="1" destOrd="0" presId="urn:microsoft.com/office/officeart/2018/2/layout/IconVerticalSolidList"/>
    <dgm:cxn modelId="{B7CAEFA2-613B-4916-8F54-D6F02F78DCFE}" type="presParOf" srcId="{A29B5E54-CCD0-41D4-8C5C-4D2120BB546F}" destId="{40760672-C103-41A8-8F24-6FA0B16A6B72}" srcOrd="2" destOrd="0" presId="urn:microsoft.com/office/officeart/2018/2/layout/IconVerticalSolidList"/>
    <dgm:cxn modelId="{29401B27-AACE-44AA-9378-0415C2816A80}" type="presParOf" srcId="{A29B5E54-CCD0-41D4-8C5C-4D2120BB546F}" destId="{A38D496E-CBBA-4989-9AEB-90EFAE864C4D}" srcOrd="3" destOrd="0" presId="urn:microsoft.com/office/officeart/2018/2/layout/IconVerticalSolidList"/>
    <dgm:cxn modelId="{BF80C356-1574-4C26-880A-96025F9B8958}" type="presParOf" srcId="{2C2E389A-DF74-4EDC-BB30-BCC1B8A97F13}" destId="{936E1883-8299-4E54-946F-B3EDDD0C3DB9}" srcOrd="3" destOrd="0" presId="urn:microsoft.com/office/officeart/2018/2/layout/IconVerticalSolidList"/>
    <dgm:cxn modelId="{F81E3582-5041-4560-A81D-BCDECCB5A108}" type="presParOf" srcId="{2C2E389A-DF74-4EDC-BB30-BCC1B8A97F13}" destId="{6ED34568-E51D-440F-899D-0D725523A456}" srcOrd="4" destOrd="0" presId="urn:microsoft.com/office/officeart/2018/2/layout/IconVerticalSolidList"/>
    <dgm:cxn modelId="{3F0CC26F-15A2-4B40-962B-95A9D2CEFFA0}" type="presParOf" srcId="{6ED34568-E51D-440F-899D-0D725523A456}" destId="{51836427-FFA7-4B89-89AC-CAB3875B8D48}" srcOrd="0" destOrd="0" presId="urn:microsoft.com/office/officeart/2018/2/layout/IconVerticalSolidList"/>
    <dgm:cxn modelId="{60291164-66B5-4D68-B796-D797C49DCCE7}" type="presParOf" srcId="{6ED34568-E51D-440F-899D-0D725523A456}" destId="{E5211555-3B22-45F1-AC66-FCE50BD9420E}" srcOrd="1" destOrd="0" presId="urn:microsoft.com/office/officeart/2018/2/layout/IconVerticalSolidList"/>
    <dgm:cxn modelId="{4ECCB8D1-4274-4E97-808E-D2AC8347DDE3}" type="presParOf" srcId="{6ED34568-E51D-440F-899D-0D725523A456}" destId="{3635F150-2070-4276-B725-71318632A105}" srcOrd="2" destOrd="0" presId="urn:microsoft.com/office/officeart/2018/2/layout/IconVerticalSolidList"/>
    <dgm:cxn modelId="{6631AB34-E166-4163-96A7-2C6F66DFEE82}" type="presParOf" srcId="{6ED34568-E51D-440F-899D-0D725523A456}" destId="{9D36514E-8D4C-45B7-880D-E094F241C3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32B293-3778-4E09-89E7-322177ABBE25}">
      <dsp:nvSpPr>
        <dsp:cNvPr id="0" name=""/>
        <dsp:cNvSpPr/>
      </dsp:nvSpPr>
      <dsp:spPr>
        <a:xfrm>
          <a:off x="0" y="210156"/>
          <a:ext cx="4162555" cy="136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061" tIns="291592" rIns="32306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İnsan yüzleri, hayvanlar, doğa fotoğrafları ve kıyafet tasarımları gibi çeşitli veri türlerini üretir.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Araç tasarımı, harita oluşturma ve oyun tasarımı gibi alanlarda da aktif olarak kullanılır.</a:t>
          </a:r>
          <a:endParaRPr lang="en-US" sz="1400" kern="1200" dirty="0"/>
        </a:p>
      </dsp:txBody>
      <dsp:txXfrm>
        <a:off x="0" y="210156"/>
        <a:ext cx="4162555" cy="1367100"/>
      </dsp:txXfrm>
    </dsp:sp>
    <dsp:sp modelId="{6BDA4DE8-64C2-4778-B78B-076670DE10FA}">
      <dsp:nvSpPr>
        <dsp:cNvPr id="0" name=""/>
        <dsp:cNvSpPr/>
      </dsp:nvSpPr>
      <dsp:spPr>
        <a:xfrm>
          <a:off x="208127" y="3516"/>
          <a:ext cx="2913788" cy="413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134" tIns="0" rIns="11013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Veri Üretimi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8302" y="23691"/>
        <a:ext cx="2873438" cy="372930"/>
      </dsp:txXfrm>
    </dsp:sp>
    <dsp:sp modelId="{792E3B89-5859-41A7-9F34-BB2773FE1026}">
      <dsp:nvSpPr>
        <dsp:cNvPr id="0" name=""/>
        <dsp:cNvSpPr/>
      </dsp:nvSpPr>
      <dsp:spPr>
        <a:xfrm>
          <a:off x="0" y="1859496"/>
          <a:ext cx="4162555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-1684631"/>
              <a:satOff val="-7944"/>
              <a:lumOff val="19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061" tIns="291592" rIns="32306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Siyah beyaz fotoğrafları renklendirme, çizimleri gerçekçi resimlere dönüştürme ve görüntülerin farklı konseptlere uyarlanması sağlanabilir.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/>
            <a:t>Örneğin gündüz fotoğraflarını geceye dönüştürme veya uydu görüntülerinden harita üretme.</a:t>
          </a:r>
          <a:endParaRPr lang="en-US" sz="1400" kern="1200"/>
        </a:p>
      </dsp:txBody>
      <dsp:txXfrm>
        <a:off x="0" y="1859496"/>
        <a:ext cx="4162555" cy="1587600"/>
      </dsp:txXfrm>
    </dsp:sp>
    <dsp:sp modelId="{E95156D4-5A8E-4DC8-91E9-0E372455840E}">
      <dsp:nvSpPr>
        <dsp:cNvPr id="0" name=""/>
        <dsp:cNvSpPr/>
      </dsp:nvSpPr>
      <dsp:spPr>
        <a:xfrm>
          <a:off x="208127" y="1652856"/>
          <a:ext cx="2913788" cy="413280"/>
        </a:xfrm>
        <a:prstGeom prst="roundRect">
          <a:avLst/>
        </a:prstGeom>
        <a:solidFill>
          <a:schemeClr val="accent5">
            <a:hueOff val="-1684631"/>
            <a:satOff val="-7944"/>
            <a:lumOff val="196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134" tIns="0" rIns="11013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Veri Dönüşümü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8302" y="1673031"/>
        <a:ext cx="2873438" cy="372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61020-3C6D-46D7-9EF5-963CB71801F7}">
      <dsp:nvSpPr>
        <dsp:cNvPr id="0" name=""/>
        <dsp:cNvSpPr/>
      </dsp:nvSpPr>
      <dsp:spPr>
        <a:xfrm>
          <a:off x="0" y="103722"/>
          <a:ext cx="3286521" cy="197191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i="0" kern="1200" baseline="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Deep</a:t>
          </a:r>
          <a:r>
            <a:rPr lang="tr-TR" sz="1700" b="1" i="0" kern="120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tr-TR" sz="1700" b="1" i="0" kern="1200" baseline="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Convolutional</a:t>
          </a:r>
          <a:r>
            <a:rPr lang="tr-TR" sz="1700" b="1" i="0" kern="120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GAN (DCGAN)</a:t>
          </a:r>
          <a:r>
            <a:rPr lang="tr-TR" sz="1700" b="0" i="0" kern="120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tr-TR" sz="17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Evrişimsel</a:t>
          </a:r>
          <a:r>
            <a:rPr lang="tr-TR" sz="1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sinir ağları kullanarak görüntü üretir. Görüntülerin detaylarını öğrenmek için derin öğrenme tekniklerini uygular. Genellikle görsel veri üretimi ve düzenleme için kullanılır.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03722"/>
        <a:ext cx="3286521" cy="1971913"/>
      </dsp:txXfrm>
    </dsp:sp>
    <dsp:sp modelId="{C6E96476-2FC9-4F61-947C-B9D38D9CCB4F}">
      <dsp:nvSpPr>
        <dsp:cNvPr id="0" name=""/>
        <dsp:cNvSpPr/>
      </dsp:nvSpPr>
      <dsp:spPr>
        <a:xfrm>
          <a:off x="3615174" y="103722"/>
          <a:ext cx="3286521" cy="197191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i="0" kern="1200" baseline="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Conditional</a:t>
          </a:r>
          <a:r>
            <a:rPr lang="tr-TR" sz="1700" b="1" i="0" kern="120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GAN (</a:t>
          </a:r>
          <a:r>
            <a:rPr lang="tr-TR" sz="1700" b="1" i="0" kern="1200" baseline="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cGAN</a:t>
          </a:r>
          <a:r>
            <a:rPr lang="tr-TR" sz="1700" b="1" i="0" kern="120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r>
            <a:rPr lang="tr-TR" sz="1700" b="0" i="0" kern="120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tr-TR" sz="1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Üreteç ve ayırıcıya ek bilgi (örneğin etiket veya metin) ekleyerek belirli koşullar altında veri üretir. Bu sayede, koşullu veri üretimi yapılabilir. Etiketli veri kullanarak özelleştirilmiş çıktılar üretir.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15174" y="103722"/>
        <a:ext cx="3286521" cy="1971913"/>
      </dsp:txXfrm>
    </dsp:sp>
    <dsp:sp modelId="{BAC15D6D-D292-4009-ABD8-9807905E1970}">
      <dsp:nvSpPr>
        <dsp:cNvPr id="0" name=""/>
        <dsp:cNvSpPr/>
      </dsp:nvSpPr>
      <dsp:spPr>
        <a:xfrm>
          <a:off x="7230348" y="103722"/>
          <a:ext cx="3286521" cy="197191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i="0" kern="1200" baseline="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CycleGAN</a:t>
          </a:r>
          <a:r>
            <a:rPr lang="tr-TR" sz="1700" b="0" i="0" kern="1200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tr-TR" sz="1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Eşleşmiş veri gerektirmeden bir görüntü setini başka bir setle dönüştürür. İki farklı domain arasında dönüşüm yapabilir, örneğin fotoğrafları sanat tarzında resimlere dönüştürür. Stil transferi ve görüntüden görüntüye dönüşümde kullanılır.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30348" y="103722"/>
        <a:ext cx="3286521" cy="1971913"/>
      </dsp:txXfrm>
    </dsp:sp>
    <dsp:sp modelId="{6F2E4357-BE44-4605-ADA0-A2610CF2AD87}">
      <dsp:nvSpPr>
        <dsp:cNvPr id="0" name=""/>
        <dsp:cNvSpPr/>
      </dsp:nvSpPr>
      <dsp:spPr>
        <a:xfrm>
          <a:off x="1807587" y="2404288"/>
          <a:ext cx="3286521" cy="197191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Pix2Pix GAN: </a:t>
          </a:r>
          <a:r>
            <a:rPr lang="tr-TR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Giriş ve çıkış görüntüleri arasında eşleşmiş veri çiftleri kullanarak görüntüden görüntüye dönüşüm yapar. Örneğin, bir taslak çizimini gerçekçi bir görüntüye dönüştürür. Görüntü düzenleme ve haritalama gibi uygulamalarda sıkça kullanılır.</a:t>
          </a:r>
        </a:p>
      </dsp:txBody>
      <dsp:txXfrm>
        <a:off x="1807587" y="2404288"/>
        <a:ext cx="3286521" cy="1971913"/>
      </dsp:txXfrm>
    </dsp:sp>
    <dsp:sp modelId="{ABA23F94-C6CB-477D-A104-7342021C2245}">
      <dsp:nvSpPr>
        <dsp:cNvPr id="0" name=""/>
        <dsp:cNvSpPr/>
      </dsp:nvSpPr>
      <dsp:spPr>
        <a:xfrm>
          <a:off x="5422761" y="2404288"/>
          <a:ext cx="3286521" cy="197191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StyleGAN: </a:t>
          </a:r>
          <a:r>
            <a:rPr lang="tr-TR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Yüksek çözünürlüklü ve gerçekçi görüntüler üretir. Görüntülerin stil özelliklerini kontrol ederek, yaş, ifade veya diğer detaylarda değişiklik yapılmasını sağlar. İnsan yüzü üretimi ve içerik oluşturma alanlarında kullanılır.</a:t>
          </a:r>
        </a:p>
      </dsp:txBody>
      <dsp:txXfrm>
        <a:off x="5422761" y="2404288"/>
        <a:ext cx="3286521" cy="19719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93C04E-A8C8-46B2-BC4A-B5693FE80E49}">
      <dsp:nvSpPr>
        <dsp:cNvPr id="0" name=""/>
        <dsp:cNvSpPr/>
      </dsp:nvSpPr>
      <dsp:spPr>
        <a:xfrm>
          <a:off x="0" y="421"/>
          <a:ext cx="6195784" cy="985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1859FF-14C6-4B2A-AE04-4E95F5BBC233}">
      <dsp:nvSpPr>
        <dsp:cNvPr id="0" name=""/>
        <dsp:cNvSpPr/>
      </dsp:nvSpPr>
      <dsp:spPr>
        <a:xfrm>
          <a:off x="298158" y="222192"/>
          <a:ext cx="542106" cy="542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1A884-54AA-4EDE-8F1F-7EB44BA942CF}">
      <dsp:nvSpPr>
        <dsp:cNvPr id="0" name=""/>
        <dsp:cNvSpPr/>
      </dsp:nvSpPr>
      <dsp:spPr>
        <a:xfrm>
          <a:off x="1038895" y="0"/>
          <a:ext cx="5057359" cy="985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14" tIns="104314" rIns="104314" bIns="10431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0" i="0" kern="1200" baseline="0" dirty="0"/>
            <a:t>Yapay zeka tarafından üretilen ve açık artırmada 432.500 dolara satılan ilk tablo, </a:t>
          </a:r>
          <a:r>
            <a:rPr lang="tr-TR" sz="1500" b="0" i="0" kern="1200" baseline="0" dirty="0" err="1"/>
            <a:t>GAN’lerin</a:t>
          </a:r>
          <a:r>
            <a:rPr lang="tr-TR" sz="1500" b="0" i="0" kern="1200" baseline="0" dirty="0"/>
            <a:t> yaratıcı potansiyelini gösteren önemli bir örnektir.</a:t>
          </a:r>
          <a:endParaRPr lang="en-US" sz="1500" kern="1200" dirty="0"/>
        </a:p>
      </dsp:txBody>
      <dsp:txXfrm>
        <a:off x="1038895" y="0"/>
        <a:ext cx="5057359" cy="985648"/>
      </dsp:txXfrm>
    </dsp:sp>
    <dsp:sp modelId="{6F939D92-3926-4736-B431-70285DAF8B5A}">
      <dsp:nvSpPr>
        <dsp:cNvPr id="0" name=""/>
        <dsp:cNvSpPr/>
      </dsp:nvSpPr>
      <dsp:spPr>
        <a:xfrm>
          <a:off x="0" y="1232482"/>
          <a:ext cx="6195784" cy="985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2B4FB8-D943-4748-9EC6-B27D3E74710F}">
      <dsp:nvSpPr>
        <dsp:cNvPr id="0" name=""/>
        <dsp:cNvSpPr/>
      </dsp:nvSpPr>
      <dsp:spPr>
        <a:xfrm>
          <a:off x="298158" y="1454253"/>
          <a:ext cx="542106" cy="542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D496E-CBBA-4989-9AEB-90EFAE864C4D}">
      <dsp:nvSpPr>
        <dsp:cNvPr id="0" name=""/>
        <dsp:cNvSpPr/>
      </dsp:nvSpPr>
      <dsp:spPr>
        <a:xfrm>
          <a:off x="964703" y="1232482"/>
          <a:ext cx="5057359" cy="985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14" tIns="104314" rIns="104314" bIns="10431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0" i="0" kern="1200" baseline="0" dirty="0"/>
            <a:t>Pix2Pix gibi popüler uygulamalar, siyah beyazdan renkli resim üretimi veya çizimlerden gerçekçi görüntüler oluşturma gibi dönüşümleri başarıyla gerçekleştirmektedir.</a:t>
          </a:r>
          <a:endParaRPr lang="en-US" sz="1500" kern="1200" dirty="0"/>
        </a:p>
      </dsp:txBody>
      <dsp:txXfrm>
        <a:off x="964703" y="1232482"/>
        <a:ext cx="5057359" cy="985648"/>
      </dsp:txXfrm>
    </dsp:sp>
    <dsp:sp modelId="{51836427-FFA7-4B89-89AC-CAB3875B8D48}">
      <dsp:nvSpPr>
        <dsp:cNvPr id="0" name=""/>
        <dsp:cNvSpPr/>
      </dsp:nvSpPr>
      <dsp:spPr>
        <a:xfrm>
          <a:off x="0" y="2464964"/>
          <a:ext cx="6195784" cy="985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211555-3B22-45F1-AC66-FCE50BD9420E}">
      <dsp:nvSpPr>
        <dsp:cNvPr id="0" name=""/>
        <dsp:cNvSpPr/>
      </dsp:nvSpPr>
      <dsp:spPr>
        <a:xfrm>
          <a:off x="298158" y="2686314"/>
          <a:ext cx="542106" cy="542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6514E-8D4C-45B7-880D-E094F241C39B}">
      <dsp:nvSpPr>
        <dsp:cNvPr id="0" name=""/>
        <dsp:cNvSpPr/>
      </dsp:nvSpPr>
      <dsp:spPr>
        <a:xfrm>
          <a:off x="260618" y="2464964"/>
          <a:ext cx="5057359" cy="985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14" tIns="104314" rIns="104314" bIns="10431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260618" y="2464964"/>
        <a:ext cx="5057359" cy="985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81A5-6790-4EB4-AB8E-E4F33081FE69}" type="datetimeFigureOut">
              <a:rPr lang="tr-TR" smtClean="0"/>
              <a:t>18.12.2024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51EF6B3-2B66-4B3A-A167-5E4C8E7C5980}" type="slidenum">
              <a:rPr lang="tr-TR" smtClean="0"/>
              <a:t>‹#›</a:t>
            </a:fld>
            <a:endParaRPr lang="tr-T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05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81A5-6790-4EB4-AB8E-E4F33081FE69}" type="datetimeFigureOut">
              <a:rPr lang="tr-TR" smtClean="0"/>
              <a:t>18.12.2024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EF6B3-2B66-4B3A-A167-5E4C8E7C5980}" type="slidenum">
              <a:rPr lang="tr-TR" smtClean="0"/>
              <a:t>‹#›</a:t>
            </a:fld>
            <a:endParaRPr lang="tr-T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41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81A5-6790-4EB4-AB8E-E4F33081FE69}" type="datetimeFigureOut">
              <a:rPr lang="tr-TR" smtClean="0"/>
              <a:t>18.12.2024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EF6B3-2B66-4B3A-A167-5E4C8E7C5980}" type="slidenum">
              <a:rPr lang="tr-TR" smtClean="0"/>
              <a:t>‹#›</a:t>
            </a:fld>
            <a:endParaRPr lang="tr-T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21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81A5-6790-4EB4-AB8E-E4F33081FE69}" type="datetimeFigureOut">
              <a:rPr lang="tr-TR" smtClean="0"/>
              <a:t>18.12.2024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EF6B3-2B66-4B3A-A167-5E4C8E7C5980}" type="slidenum">
              <a:rPr lang="tr-TR" smtClean="0"/>
              <a:t>‹#›</a:t>
            </a:fld>
            <a:endParaRPr lang="tr-T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09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81A5-6790-4EB4-AB8E-E4F33081FE69}" type="datetimeFigureOut">
              <a:rPr lang="tr-TR" smtClean="0"/>
              <a:t>18.12.2024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EF6B3-2B66-4B3A-A167-5E4C8E7C5980}" type="slidenum">
              <a:rPr lang="tr-TR" smtClean="0"/>
              <a:t>‹#›</a:t>
            </a:fld>
            <a:endParaRPr lang="tr-T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51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81A5-6790-4EB4-AB8E-E4F33081FE69}" type="datetimeFigureOut">
              <a:rPr lang="tr-TR" smtClean="0"/>
              <a:t>18.12.2024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EF6B3-2B66-4B3A-A167-5E4C8E7C5980}" type="slidenum">
              <a:rPr lang="tr-TR" smtClean="0"/>
              <a:t>‹#›</a:t>
            </a:fld>
            <a:endParaRPr lang="tr-T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88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81A5-6790-4EB4-AB8E-E4F33081FE69}" type="datetimeFigureOut">
              <a:rPr lang="tr-TR" smtClean="0"/>
              <a:t>18.12.2024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EF6B3-2B66-4B3A-A167-5E4C8E7C59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1989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81A5-6790-4EB4-AB8E-E4F33081FE69}" type="datetimeFigureOut">
              <a:rPr lang="tr-TR" smtClean="0"/>
              <a:t>18.12.2024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EF6B3-2B66-4B3A-A167-5E4C8E7C5980}" type="slidenum">
              <a:rPr lang="tr-TR" smtClean="0"/>
              <a:t>‹#›</a:t>
            </a:fld>
            <a:endParaRPr lang="tr-T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119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0D181A5-6790-4EB4-AB8E-E4F33081FE69}" type="datetimeFigureOut">
              <a:rPr lang="tr-TR" smtClean="0"/>
              <a:t>18.12.2024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EF6B3-2B66-4B3A-A167-5E4C8E7C5980}" type="slidenum">
              <a:rPr lang="tr-TR" smtClean="0"/>
              <a:t>‹#›</a:t>
            </a:fld>
            <a:endParaRPr lang="tr-T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14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81A5-6790-4EB4-AB8E-E4F33081FE69}" type="datetimeFigureOut">
              <a:rPr lang="tr-TR" smtClean="0"/>
              <a:t>18.12.2024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EF6B3-2B66-4B3A-A167-5E4C8E7C5980}" type="slidenum">
              <a:rPr lang="tr-TR" smtClean="0"/>
              <a:t>‹#›</a:t>
            </a:fld>
            <a:endParaRPr lang="tr-T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497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81A5-6790-4EB4-AB8E-E4F33081FE69}" type="datetimeFigureOut">
              <a:rPr lang="tr-TR" smtClean="0"/>
              <a:t>18.12.2024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EF6B3-2B66-4B3A-A167-5E4C8E7C5980}" type="slidenum">
              <a:rPr lang="tr-TR" smtClean="0"/>
              <a:t>‹#›</a:t>
            </a:fld>
            <a:endParaRPr lang="tr-T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06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181A5-6790-4EB4-AB8E-E4F33081FE69}" type="datetimeFigureOut">
              <a:rPr lang="tr-TR" smtClean="0"/>
              <a:t>18.12.2024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51EF6B3-2B66-4B3A-A167-5E4C8E7C5980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71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tr/what-is/gan/" TargetMode="External"/><Relationship Id="rId2" Type="http://schemas.openxmlformats.org/officeDocument/2006/relationships/hyperlink" Target="https://cihanongun.medium.com/generative-adversarial-networks-gan-nedir-5cc6a48a687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apayzekatr.com/2023/11/03/generative-adversarial-networks-gan-nedi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0DD1762-86C8-35F0-25A0-362AFE81F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616" y="962902"/>
            <a:ext cx="4176384" cy="2380828"/>
          </a:xfrm>
        </p:spPr>
        <p:txBody>
          <a:bodyPr>
            <a:normAutofit/>
          </a:bodyPr>
          <a:lstStyle/>
          <a:p>
            <a:r>
              <a:rPr lang="tr-TR" sz="4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Generative</a:t>
            </a:r>
            <a:r>
              <a:rPr lang="tr-TR" sz="41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4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Adversarial</a:t>
            </a:r>
            <a:r>
              <a:rPr lang="tr-TR" sz="41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Networks (GAN)</a:t>
            </a:r>
            <a:endParaRPr lang="tr-TR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BB37E2C-EA9A-BB63-6A85-0C2721FAB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617" y="3531204"/>
            <a:ext cx="4171479" cy="161064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tr-TR" sz="1500" dirty="0"/>
              <a:t>Hazırlayanlar:</a:t>
            </a:r>
          </a:p>
          <a:p>
            <a:pPr>
              <a:lnSpc>
                <a:spcPct val="110000"/>
              </a:lnSpc>
            </a:pPr>
            <a:r>
              <a:rPr lang="tr-TR" sz="1500" dirty="0"/>
              <a:t>214210093 – Oğuzhan YALÇIN</a:t>
            </a:r>
          </a:p>
          <a:p>
            <a:pPr>
              <a:lnSpc>
                <a:spcPct val="110000"/>
              </a:lnSpc>
            </a:pPr>
            <a:r>
              <a:rPr lang="tr-TR" sz="1500" dirty="0"/>
              <a:t>214210095 – Erkan YİĞİT</a:t>
            </a:r>
          </a:p>
          <a:p>
            <a:pPr>
              <a:lnSpc>
                <a:spcPct val="110000"/>
              </a:lnSpc>
            </a:pPr>
            <a:r>
              <a:rPr lang="tr-TR" sz="1500" dirty="0"/>
              <a:t>214210040 – </a:t>
            </a:r>
            <a:r>
              <a:rPr lang="tr-TR" sz="1500" dirty="0" err="1"/>
              <a:t>MuhamMeT</a:t>
            </a:r>
            <a:r>
              <a:rPr lang="tr-TR" sz="1500" dirty="0"/>
              <a:t> Akif AYAN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Network Diagram">
            <a:extLst>
              <a:ext uri="{FF2B5EF4-FFF2-40B4-BE49-F238E27FC236}">
                <a16:creationId xmlns:a16="http://schemas.microsoft.com/office/drawing/2014/main" id="{21138699-B302-6995-FAB3-E0734444E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4251" y="805583"/>
            <a:ext cx="4660762" cy="46607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953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7E3D01A-1ED4-48BF-66A7-08321E250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0" r="24399"/>
          <a:stretch/>
        </p:blipFill>
        <p:spPr bwMode="auto">
          <a:xfrm>
            <a:off x="5313225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BE771109-D127-452D-0F96-8E709C1CFBE3}"/>
              </a:ext>
            </a:extLst>
          </p:cNvPr>
          <p:cNvSpPr txBox="1"/>
          <p:nvPr/>
        </p:nvSpPr>
        <p:spPr>
          <a:xfrm>
            <a:off x="1838505" y="1077976"/>
            <a:ext cx="3474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 NEDİR ?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D4D69B8-A96E-A88C-08B2-8954EAA5FF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693" y="2554236"/>
            <a:ext cx="529082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 (Gövde)"/>
              </a:rPr>
              <a:t>GAN, gerçeğe çok yakın görüntüler, sesler ve yazılar üretebilen güçlü bir yapay sinir ağı modelidir.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 (Göv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 (Gövde)"/>
              </a:rPr>
              <a:t>En çok kullanılan alanları arasında insan yüzü, hayvanlar ve manzaraların gerçeğe uygun olarak üretilmesi yer alır.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 (Göv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 (Gövde)"/>
              </a:rPr>
              <a:t>Bu teknoloji, hem araştırma hem de yaratıcı uygulamalar için büyük bir potansiyel sunmaktadır. </a:t>
            </a:r>
          </a:p>
        </p:txBody>
      </p:sp>
    </p:spTree>
    <p:extLst>
      <p:ext uri="{BB962C8B-B14F-4D97-AF65-F5344CB8AC3E}">
        <p14:creationId xmlns:p14="http://schemas.microsoft.com/office/powerpoint/2010/main" val="403597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69695E-EDA5-F64B-9DB1-5B255C8C2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230" y="1248379"/>
            <a:ext cx="9603275" cy="1049235"/>
          </a:xfrm>
        </p:spPr>
        <p:txBody>
          <a:bodyPr>
            <a:normAutofit/>
          </a:bodyPr>
          <a:lstStyle/>
          <a:p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GAN’In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TarIhçesI</a:t>
            </a:r>
            <a:b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11DF98-3EAC-1635-6708-EDC0E4E426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0681" y="1863334"/>
            <a:ext cx="4162555" cy="34506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effectLst/>
              <a:latin typeface="Gill Sans MT (Gövde)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GAN fikri, 2014 yılında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Gill Sans MT (Gövde)"/>
              </a:rPr>
              <a:t>Ian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Gill Sans MT (Gövde)"/>
              </a:rPr>
              <a:t>Goodfellow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 tarafından bir sohbet sırasında geliştirildi ve hemen ardından makale olarak yayınlandı.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effectLst/>
              <a:latin typeface="Gill Sans MT (Gövde)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İlk makalesi hızla ilgi gördü ve yapay zeka dünyasında büyük bir etki yarattı.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effectLst/>
              <a:latin typeface="Gill Sans MT (Gövde)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Günümüzde,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Gill Sans MT (Gövde)"/>
              </a:rPr>
              <a:t>GAN'ler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 üzerine yapılan araştırmalar her yıl yüzlerce makale ile genişlemeye devam etmektedir. </a:t>
            </a:r>
          </a:p>
        </p:txBody>
      </p:sp>
      <p:pic>
        <p:nvPicPr>
          <p:cNvPr id="2051" name="Picture 3" descr="Ian Goodfellow">
            <a:extLst>
              <a:ext uri="{FF2B5EF4-FFF2-40B4-BE49-F238E27FC236}">
                <a16:creationId xmlns:a16="http://schemas.microsoft.com/office/drawing/2014/main" id="{30D69B28-3FAC-5827-F443-8C653F68A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25" b="-15"/>
          <a:stretch/>
        </p:blipFill>
        <p:spPr bwMode="auto">
          <a:xfrm>
            <a:off x="6094411" y="2297614"/>
            <a:ext cx="5730643" cy="33350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066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348733-B8CE-0D75-8CD8-85D18D85C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97" y="1121848"/>
            <a:ext cx="9603275" cy="1049235"/>
          </a:xfrm>
        </p:spPr>
        <p:txBody>
          <a:bodyPr>
            <a:normAutofit/>
          </a:bodyPr>
          <a:lstStyle/>
          <a:p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GAN’In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Çalışma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Prensİbİ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C71A01-8512-F1A7-4A02-F624E35460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40982" y="1921370"/>
            <a:ext cx="5505205" cy="40467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effectLst/>
                <a:latin typeface="Gill Sans MT (Gövde)"/>
              </a:rPr>
              <a:t>Discriminator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 (Ayırt Edici Ağ):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 Gerçek ve sahte verileri ayırt etmeye çalışır ve girdilere 0 ile 1 arasında bir değer atar.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tr-TR" altLang="tr-TR" sz="1600" b="0" i="0" u="none" strike="noStrike" cap="none" normalizeH="0" baseline="0" dirty="0">
              <a:ln>
                <a:noFill/>
              </a:ln>
              <a:effectLst/>
              <a:latin typeface="Gill Sans MT (Gövde)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effectLst/>
                <a:latin typeface="Gill Sans MT (Gövde)"/>
              </a:rPr>
              <a:t>Generator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 (Üretici Ağ):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  <a:latin typeface="Gill Sans MT (Gövde)"/>
              </a:rPr>
              <a:t>Discriminator’ı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 kandırabilecek kadar gerçekçi sahte veriler üretmek için optimize olur.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tr-TR" altLang="tr-TR" sz="1600" b="0" i="0" u="none" strike="noStrike" cap="none" normalizeH="0" baseline="0" dirty="0">
              <a:ln>
                <a:noFill/>
              </a:ln>
              <a:effectLst/>
              <a:latin typeface="Gill Sans MT (Gövde)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Eğitim Süreci:</a:t>
            </a:r>
            <a:endParaRPr kumimoji="0" lang="tr-TR" altLang="tr-TR" sz="1600" b="0" i="0" u="none" strike="noStrike" cap="none" normalizeH="0" baseline="0" dirty="0">
              <a:ln>
                <a:noFill/>
              </a:ln>
              <a:effectLst/>
              <a:latin typeface="Gill Sans MT (Gövde)"/>
            </a:endParaRP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Ayırt edici ağ, gerçek verileri doğru sınıflandırma oranını artırır.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Üretici ağ ise ürettiği verilerin "gerçek" olarak değerlendirilmesini sağlamayı hedefler.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  <a:latin typeface="Gill Sans MT (Gövde)"/>
              </a:rPr>
              <a:t>İki ağ arasındaki rekabet, giderek daha gerçekçi sonuçlar üretir.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tr-TR" altLang="tr-TR" sz="1600" b="0" i="0" u="none" strike="noStrike" cap="none" normalizeH="0" baseline="0" dirty="0">
              <a:ln>
                <a:noFill/>
              </a:ln>
              <a:effectLst/>
              <a:latin typeface="Gill Sans MT (Gövde)"/>
            </a:endParaRPr>
          </a:p>
        </p:txBody>
      </p:sp>
      <p:pic>
        <p:nvPicPr>
          <p:cNvPr id="3076" name="Picture 4" descr="generative-adversarial-network">
            <a:extLst>
              <a:ext uri="{FF2B5EF4-FFF2-40B4-BE49-F238E27FC236}">
                <a16:creationId xmlns:a16="http://schemas.microsoft.com/office/drawing/2014/main" id="{2BF64A56-6278-32A9-F9EF-09E5681EE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" b="828"/>
          <a:stretch/>
        </p:blipFill>
        <p:spPr bwMode="auto">
          <a:xfrm>
            <a:off x="1165189" y="2171083"/>
            <a:ext cx="4828262" cy="3269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64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AD757E4-543F-7F36-73AC-767FEA1F8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GAN’In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Kullanım Alanları</a:t>
            </a:r>
            <a:b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8C3EE29-DA39-4C7D-A040-71CBAB37E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0" r="3699" b="1"/>
          <a:stretch/>
        </p:blipFill>
        <p:spPr bwMode="auto">
          <a:xfrm>
            <a:off x="330037" y="2173172"/>
            <a:ext cx="6305506" cy="3546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A6FDC0F6-985F-10BC-CCD1-990A78CEE6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7585260"/>
              </p:ext>
            </p:extLst>
          </p:nvPr>
        </p:nvGraphicFramePr>
        <p:xfrm>
          <a:off x="6892299" y="2015734"/>
          <a:ext cx="4162555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7635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6BA1C2-0C52-0D7A-F3A2-4B7686092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351" y="1303548"/>
            <a:ext cx="9603275" cy="1049235"/>
          </a:xfrm>
        </p:spPr>
        <p:txBody>
          <a:bodyPr>
            <a:norm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 Türleri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0B42601-6A7C-2398-C18A-6D8F8BD366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318065"/>
              </p:ext>
            </p:extLst>
          </p:nvPr>
        </p:nvGraphicFramePr>
        <p:xfrm>
          <a:off x="1088137" y="1911097"/>
          <a:ext cx="10516870" cy="4479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5262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EA787E-5747-0161-4221-B9D3AE085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179" y="1139799"/>
            <a:ext cx="9603275" cy="1049235"/>
          </a:xfrm>
        </p:spPr>
        <p:txBody>
          <a:bodyPr>
            <a:norm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Öne Çıkan Örnekler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6A94BC4-9DD5-4986-804C-412F0C331F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3748367"/>
              </p:ext>
            </p:extLst>
          </p:nvPr>
        </p:nvGraphicFramePr>
        <p:xfrm>
          <a:off x="1451579" y="2169428"/>
          <a:ext cx="6195784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etin kutusu 3">
            <a:extLst>
              <a:ext uri="{FF2B5EF4-FFF2-40B4-BE49-F238E27FC236}">
                <a16:creationId xmlns:a16="http://schemas.microsoft.com/office/drawing/2014/main" id="{1A5805D2-5FA5-8B65-AFB2-5103183F109C}"/>
              </a:ext>
            </a:extLst>
          </p:cNvPr>
          <p:cNvSpPr txBox="1"/>
          <p:nvPr/>
        </p:nvSpPr>
        <p:spPr>
          <a:xfrm>
            <a:off x="2304288" y="4604378"/>
            <a:ext cx="54297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 err="1"/>
              <a:t>Runway</a:t>
            </a:r>
            <a:r>
              <a:rPr lang="tr-TR" sz="1500" dirty="0"/>
              <a:t> ML, kullanıcıların GAN tabanlı modellerle görsel içerikler, videolar ve animasyonlar yaratmalarını sağlar. Özellikle  "</a:t>
            </a:r>
            <a:r>
              <a:rPr lang="tr-TR" sz="1500" dirty="0" err="1"/>
              <a:t>StyleGAN</a:t>
            </a:r>
            <a:r>
              <a:rPr lang="tr-TR" sz="1500" dirty="0"/>
              <a:t>" gibi modelleri kullanarak, sanatçılar ve tasarımcılar özgün sanat eserleri oluşturabilirler.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B5CC1B34-E813-E684-A75C-6B7F464F98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1882" y="2359151"/>
            <a:ext cx="3051660" cy="31451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0773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4F95FE-FF87-8287-B1B0-0719E975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KAYNAKÇA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B4E813F-BF96-B0E8-0523-1A7703550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>
                <a:hlinkClick r:id="rId2"/>
              </a:rPr>
              <a:t>https://cihanongun.medium.com/generative-adversarial-networks-gan-nedir-5cc6a48a6870</a:t>
            </a:r>
            <a:endParaRPr lang="tr-TR" dirty="0"/>
          </a:p>
          <a:p>
            <a:r>
              <a:rPr lang="tr-TR" dirty="0">
                <a:hlinkClick r:id="rId3"/>
              </a:rPr>
              <a:t>https://aws.amazon.com/tr/what-is/gan/</a:t>
            </a:r>
            <a:endParaRPr lang="tr-TR" dirty="0"/>
          </a:p>
          <a:p>
            <a:r>
              <a:rPr lang="tr-TR" dirty="0">
                <a:hlinkClick r:id="rId4"/>
              </a:rPr>
              <a:t>https://www.yapayzekatr.com/2023/11/03/generative-adversarial-networks-gan-nedir/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17229002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">
  <a:themeElements>
    <a:clrScheme name="Galeri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147</TotalTime>
  <Words>560</Words>
  <Application>Microsoft Office PowerPoint</Application>
  <PresentationFormat>Geniş ekran</PresentationFormat>
  <Paragraphs>48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Arial</vt:lpstr>
      <vt:lpstr>Gill Sans MT</vt:lpstr>
      <vt:lpstr>Gill Sans MT (Gövde)</vt:lpstr>
      <vt:lpstr>Times New Roman</vt:lpstr>
      <vt:lpstr>Galeri</vt:lpstr>
      <vt:lpstr>Generative Adversarial Networks (GAN)</vt:lpstr>
      <vt:lpstr>PowerPoint Sunusu</vt:lpstr>
      <vt:lpstr>GAN’In TarIhçesI </vt:lpstr>
      <vt:lpstr>GAN’In Çalışma Prensİbİ</vt:lpstr>
      <vt:lpstr>GAN’In Kullanım Alanları </vt:lpstr>
      <vt:lpstr>GAN Türleri</vt:lpstr>
      <vt:lpstr>Öne Çıkan Örnekler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OGUZHAN YALCIN</dc:creator>
  <cp:lastModifiedBy>OGUZHAN YALCIN</cp:lastModifiedBy>
  <cp:revision>4</cp:revision>
  <dcterms:created xsi:type="dcterms:W3CDTF">2024-12-02T02:03:44Z</dcterms:created>
  <dcterms:modified xsi:type="dcterms:W3CDTF">2024-12-18T03:01:07Z</dcterms:modified>
</cp:coreProperties>
</file>